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1" r:id="rId3"/>
    <p:sldId id="259" r:id="rId4"/>
    <p:sldId id="260" r:id="rId5"/>
    <p:sldId id="258" r:id="rId6"/>
    <p:sldId id="263" r:id="rId7"/>
    <p:sldId id="264" r:id="rId8"/>
    <p:sldId id="265" r:id="rId9"/>
    <p:sldId id="266" r:id="rId10"/>
    <p:sldId id="267" r:id="rId11"/>
    <p:sldId id="257"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09"/>
  </p:normalViewPr>
  <p:slideViewPr>
    <p:cSldViewPr snapToGrid="0" snapToObjects="1">
      <p:cViewPr varScale="1">
        <p:scale>
          <a:sx n="106" d="100"/>
          <a:sy n="106" d="100"/>
        </p:scale>
        <p:origin x="17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a:t>Overall Utilization (%)</a:t>
            </a:r>
          </a:p>
        </c:rich>
      </c:tx>
      <c:overlay val="0"/>
    </c:title>
    <c:autoTitleDeleted val="0"/>
    <c:plotArea>
      <c:layout>
        <c:manualLayout>
          <c:layoutTarget val="inner"/>
          <c:xMode val="edge"/>
          <c:yMode val="edge"/>
          <c:x val="7.9124835958005249E-2"/>
          <c:y val="3.8150973315835522E-2"/>
          <c:w val="0.75883502843394579"/>
          <c:h val="0.70286745406824147"/>
        </c:manualLayout>
      </c:layout>
      <c:lineChart>
        <c:grouping val="standard"/>
        <c:varyColors val="0"/>
        <c:ser>
          <c:idx val="0"/>
          <c:order val="0"/>
          <c:tx>
            <c:strRef>
              <c:f>Sheet1!$B$1</c:f>
              <c:strCache>
                <c:ptCount val="1"/>
                <c:pt idx="0">
                  <c:v>Lot01</c:v>
                </c:pt>
              </c:strCache>
            </c:strRef>
          </c:tx>
          <c:marker>
            <c:symbol val="none"/>
          </c:marker>
          <c:cat>
            <c:strRef>
              <c:f>Sheet1!$A$2:$A$6</c:f>
              <c:strCache>
                <c:ptCount val="5"/>
                <c:pt idx="0">
                  <c:v>8:00</c:v>
                </c:pt>
                <c:pt idx="1">
                  <c:v>9:30</c:v>
                </c:pt>
                <c:pt idx="2">
                  <c:v>11:30</c:v>
                </c:pt>
                <c:pt idx="3">
                  <c:v>14:30</c:v>
                </c:pt>
                <c:pt idx="4">
                  <c:v>16:30</c:v>
                </c:pt>
              </c:strCache>
            </c:strRef>
          </c:cat>
          <c:val>
            <c:numRef>
              <c:f>Sheet1!$B$2:$B$6</c:f>
              <c:numCache>
                <c:formatCode>General</c:formatCode>
                <c:ptCount val="5"/>
                <c:pt idx="0">
                  <c:v>30</c:v>
                </c:pt>
                <c:pt idx="1">
                  <c:v>80</c:v>
                </c:pt>
                <c:pt idx="2">
                  <c:v>95</c:v>
                </c:pt>
                <c:pt idx="3">
                  <c:v>90</c:v>
                </c:pt>
                <c:pt idx="4">
                  <c:v>75</c:v>
                </c:pt>
              </c:numCache>
            </c:numRef>
          </c:val>
          <c:smooth val="0"/>
          <c:extLst>
            <c:ext xmlns:c16="http://schemas.microsoft.com/office/drawing/2014/chart" uri="{C3380CC4-5D6E-409C-BE32-E72D297353CC}">
              <c16:uniqueId val="{00000000-766A-5D4C-823C-6C73A20CE1C8}"/>
            </c:ext>
          </c:extLst>
        </c:ser>
        <c:ser>
          <c:idx val="1"/>
          <c:order val="1"/>
          <c:tx>
            <c:strRef>
              <c:f>Sheet1!$C$1</c:f>
              <c:strCache>
                <c:ptCount val="1"/>
                <c:pt idx="0">
                  <c:v>Lot02</c:v>
                </c:pt>
              </c:strCache>
            </c:strRef>
          </c:tx>
          <c:marker>
            <c:symbol val="none"/>
          </c:marker>
          <c:cat>
            <c:strRef>
              <c:f>Sheet1!$A$2:$A$6</c:f>
              <c:strCache>
                <c:ptCount val="5"/>
                <c:pt idx="0">
                  <c:v>8:00</c:v>
                </c:pt>
                <c:pt idx="1">
                  <c:v>9:30</c:v>
                </c:pt>
                <c:pt idx="2">
                  <c:v>11:30</c:v>
                </c:pt>
                <c:pt idx="3">
                  <c:v>14:30</c:v>
                </c:pt>
                <c:pt idx="4">
                  <c:v>16:30</c:v>
                </c:pt>
              </c:strCache>
            </c:strRef>
          </c:cat>
          <c:val>
            <c:numRef>
              <c:f>Sheet1!$C$2:$C$6</c:f>
              <c:numCache>
                <c:formatCode>General</c:formatCode>
                <c:ptCount val="5"/>
                <c:pt idx="0">
                  <c:v>40</c:v>
                </c:pt>
                <c:pt idx="1">
                  <c:v>90</c:v>
                </c:pt>
                <c:pt idx="2">
                  <c:v>100</c:v>
                </c:pt>
                <c:pt idx="3">
                  <c:v>95</c:v>
                </c:pt>
                <c:pt idx="4">
                  <c:v>85</c:v>
                </c:pt>
              </c:numCache>
            </c:numRef>
          </c:val>
          <c:smooth val="0"/>
          <c:extLst>
            <c:ext xmlns:c16="http://schemas.microsoft.com/office/drawing/2014/chart" uri="{C3380CC4-5D6E-409C-BE32-E72D297353CC}">
              <c16:uniqueId val="{00000001-766A-5D4C-823C-6C73A20CE1C8}"/>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r>
              <a:rPr lang="en-US"/>
              <a:t>Lot01 Occupancy (%)</a:t>
            </a:r>
          </a:p>
        </c:rich>
      </c:tx>
      <c:overlay val="0"/>
      <c:spPr>
        <a:noFill/>
        <a:ln>
          <a:noFill/>
        </a:ln>
        <a:effectLst/>
      </c:spPr>
    </c:title>
    <c:autoTitleDeleted val="0"/>
    <c:plotArea>
      <c:layout/>
      <c:barChart>
        <c:barDir val="col"/>
        <c:grouping val="clustered"/>
        <c:varyColors val="1"/>
        <c:ser>
          <c:idx val="0"/>
          <c:order val="0"/>
          <c:tx>
            <c:strRef>
              <c:f>Sheet1!$B$1</c:f>
              <c:strCache>
                <c:ptCount val="1"/>
                <c:pt idx="0">
                  <c:v>Lot01</c:v>
                </c:pt>
              </c:strCache>
            </c:strRef>
          </c:tx>
          <c:invertIfNegative val="1"/>
          <c:dPt>
            <c:idx val="0"/>
            <c:invertIfNegative val="1"/>
            <c:bubble3D val="0"/>
            <c:spPr>
              <a:solidFill>
                <a:schemeClr val="dk1">
                  <a:tint val="88000"/>
                </a:schemeClr>
              </a:solidFill>
              <a:ln>
                <a:noFill/>
              </a:ln>
              <a:effectLst/>
            </c:spPr>
            <c:extLst>
              <c:ext xmlns:c16="http://schemas.microsoft.com/office/drawing/2014/chart" uri="{C3380CC4-5D6E-409C-BE32-E72D297353CC}">
                <c16:uniqueId val="{00000001-55CB-6F46-A74E-B2E7C295E28C}"/>
              </c:ext>
            </c:extLst>
          </c:dPt>
          <c:dPt>
            <c:idx val="1"/>
            <c:invertIfNegative val="1"/>
            <c:bubble3D val="0"/>
            <c:spPr>
              <a:solidFill>
                <a:schemeClr val="dk1">
                  <a:tint val="55000"/>
                </a:schemeClr>
              </a:solidFill>
              <a:ln>
                <a:noFill/>
              </a:ln>
              <a:effectLst/>
            </c:spPr>
            <c:extLst>
              <c:ext xmlns:c16="http://schemas.microsoft.com/office/drawing/2014/chart" uri="{C3380CC4-5D6E-409C-BE32-E72D297353CC}">
                <c16:uniqueId val="{00000003-55CB-6F46-A74E-B2E7C295E28C}"/>
              </c:ext>
            </c:extLst>
          </c:dPt>
          <c:dPt>
            <c:idx val="2"/>
            <c:invertIfNegative val="1"/>
            <c:bubble3D val="0"/>
            <c:spPr>
              <a:solidFill>
                <a:schemeClr val="dk1">
                  <a:tint val="78000"/>
                </a:schemeClr>
              </a:solidFill>
              <a:ln>
                <a:noFill/>
              </a:ln>
              <a:effectLst/>
            </c:spPr>
            <c:extLst>
              <c:ext xmlns:c16="http://schemas.microsoft.com/office/drawing/2014/chart" uri="{C3380CC4-5D6E-409C-BE32-E72D297353CC}">
                <c16:uniqueId val="{00000005-55CB-6F46-A74E-B2E7C295E28C}"/>
              </c:ext>
            </c:extLst>
          </c:dPt>
          <c:dPt>
            <c:idx val="3"/>
            <c:invertIfNegative val="1"/>
            <c:bubble3D val="0"/>
            <c:spPr>
              <a:solidFill>
                <a:schemeClr val="dk1">
                  <a:tint val="92000"/>
                </a:schemeClr>
              </a:solidFill>
              <a:ln>
                <a:noFill/>
              </a:ln>
              <a:effectLst/>
            </c:spPr>
            <c:extLst>
              <c:ext xmlns:c16="http://schemas.microsoft.com/office/drawing/2014/chart" uri="{C3380CC4-5D6E-409C-BE32-E72D297353CC}">
                <c16:uniqueId val="{00000007-55CB-6F46-A74E-B2E7C295E28C}"/>
              </c:ext>
            </c:extLst>
          </c:dPt>
          <c:dPt>
            <c:idx val="4"/>
            <c:invertIfNegative val="1"/>
            <c:bubble3D val="0"/>
            <c:spPr>
              <a:solidFill>
                <a:schemeClr val="dk1">
                  <a:tint val="70000"/>
                </a:schemeClr>
              </a:solidFill>
              <a:ln>
                <a:noFill/>
              </a:ln>
              <a:effectLst/>
            </c:spPr>
            <c:extLst>
              <c:ext xmlns:c16="http://schemas.microsoft.com/office/drawing/2014/chart" uri="{C3380CC4-5D6E-409C-BE32-E72D297353CC}">
                <c16:uniqueId val="{00000009-55CB-6F46-A74E-B2E7C295E28C}"/>
              </c:ext>
            </c:extLst>
          </c:dPt>
          <c:cat>
            <c:strRef>
              <c:f>Sheet1!$A$2:$A$6</c:f>
              <c:strCache>
                <c:ptCount val="5"/>
                <c:pt idx="0">
                  <c:v>8:00</c:v>
                </c:pt>
                <c:pt idx="1">
                  <c:v>10:00</c:v>
                </c:pt>
                <c:pt idx="2">
                  <c:v>12:00</c:v>
                </c:pt>
                <c:pt idx="3">
                  <c:v>14:00</c:v>
                </c:pt>
                <c:pt idx="4">
                  <c:v>16:00</c:v>
                </c:pt>
              </c:strCache>
            </c:strRef>
          </c:cat>
          <c:val>
            <c:numRef>
              <c:f>Sheet1!$B$2:$B$6</c:f>
              <c:numCache>
                <c:formatCode>General</c:formatCode>
                <c:ptCount val="5"/>
                <c:pt idx="0">
                  <c:v>30</c:v>
                </c:pt>
                <c:pt idx="1">
                  <c:v>80</c:v>
                </c:pt>
                <c:pt idx="2">
                  <c:v>95</c:v>
                </c:pt>
                <c:pt idx="3">
                  <c:v>92</c:v>
                </c:pt>
                <c:pt idx="4">
                  <c:v>80</c:v>
                </c:pt>
              </c:numCache>
            </c:numRef>
          </c:val>
          <c:extLst>
            <c:ext xmlns:c16="http://schemas.microsoft.com/office/drawing/2014/chart" uri="{C3380CC4-5D6E-409C-BE32-E72D297353CC}">
              <c16:uniqueId val="{00000000-3E03-E242-BE02-75B2217B613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noFill/>
          <a:ln w="9525" cap="flat" cmpd="sng" algn="ctr">
            <a:solidFill>
              <a:schemeClr val="tx1">
                <a:shade val="95000"/>
                <a:satMod val="105000"/>
              </a:schemeClr>
            </a:solidFill>
            <a:prstDash val="solid"/>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9525" cap="flat" cmpd="sng" algn="ctr">
              <a:solidFill>
                <a:schemeClr val="tx1">
                  <a:shade val="95000"/>
                  <a:satMod val="105000"/>
                </a:schemeClr>
              </a:solidFill>
              <a:prstDash val="solid"/>
              <a:round/>
            </a:ln>
            <a:effectLst/>
          </c:spPr>
        </c:majorGridlines>
        <c:numFmt formatCode="General" sourceLinked="1"/>
        <c:majorTickMark val="out"/>
        <c:minorTickMark val="none"/>
        <c:tickLblPos val="nextTo"/>
        <c:spPr>
          <a:noFill/>
          <a:ln w="9525" cap="flat" cmpd="sng" algn="ctr">
            <a:solidFill>
              <a:schemeClr val="tx1">
                <a:shade val="95000"/>
                <a:satMod val="105000"/>
              </a:schemeClr>
            </a:solidFill>
            <a:prstDash val="solid"/>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068027336"/>
        <c:crosses val="autoZero"/>
        <c:crossBetween val="between"/>
      </c:valAx>
      <c:spPr>
        <a:noFill/>
        <a:ln>
          <a:noFill/>
        </a:ln>
        <a:effectLst/>
      </c:spPr>
    </c:plotArea>
    <c:plotVisOnly val="1"/>
    <c:dispBlanksAs val="gap"/>
    <c:showDLblsOverMax val="1"/>
  </c:chart>
  <c:spPr>
    <a:noFill/>
    <a:ln w="9525" cap="flat" cmpd="sng" algn="ctr">
      <a:noFill/>
      <a:prstDash val="solid"/>
    </a:ln>
    <a:effectLst/>
  </c:spPr>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r>
              <a:rPr lang="en-US"/>
              <a:t>Lot02 Occupancy (%)</a:t>
            </a:r>
          </a:p>
        </c:rich>
      </c:tx>
      <c:overlay val="0"/>
      <c:spPr>
        <a:noFill/>
        <a:ln>
          <a:noFill/>
        </a:ln>
        <a:effectLst/>
      </c:spPr>
    </c:title>
    <c:autoTitleDeleted val="0"/>
    <c:plotArea>
      <c:layout/>
      <c:barChart>
        <c:barDir val="col"/>
        <c:grouping val="clustered"/>
        <c:varyColors val="1"/>
        <c:ser>
          <c:idx val="0"/>
          <c:order val="0"/>
          <c:tx>
            <c:strRef>
              <c:f>Sheet1!$B$1</c:f>
              <c:strCache>
                <c:ptCount val="1"/>
                <c:pt idx="0">
                  <c:v>Lot02</c:v>
                </c:pt>
              </c:strCache>
            </c:strRef>
          </c:tx>
          <c:invertIfNegative val="1"/>
          <c:dPt>
            <c:idx val="0"/>
            <c:invertIfNegative val="1"/>
            <c:bubble3D val="0"/>
            <c:spPr>
              <a:solidFill>
                <a:schemeClr val="dk1">
                  <a:tint val="88000"/>
                </a:schemeClr>
              </a:solidFill>
              <a:ln>
                <a:noFill/>
              </a:ln>
              <a:effectLst/>
            </c:spPr>
            <c:extLst>
              <c:ext xmlns:c16="http://schemas.microsoft.com/office/drawing/2014/chart" uri="{C3380CC4-5D6E-409C-BE32-E72D297353CC}">
                <c16:uniqueId val="{00000001-6719-364B-B389-5D68D7504A8C}"/>
              </c:ext>
            </c:extLst>
          </c:dPt>
          <c:dPt>
            <c:idx val="1"/>
            <c:invertIfNegative val="1"/>
            <c:bubble3D val="0"/>
            <c:spPr>
              <a:solidFill>
                <a:schemeClr val="dk1">
                  <a:tint val="55000"/>
                </a:schemeClr>
              </a:solidFill>
              <a:ln>
                <a:noFill/>
              </a:ln>
              <a:effectLst/>
            </c:spPr>
            <c:extLst>
              <c:ext xmlns:c16="http://schemas.microsoft.com/office/drawing/2014/chart" uri="{C3380CC4-5D6E-409C-BE32-E72D297353CC}">
                <c16:uniqueId val="{00000003-6719-364B-B389-5D68D7504A8C}"/>
              </c:ext>
            </c:extLst>
          </c:dPt>
          <c:dPt>
            <c:idx val="2"/>
            <c:invertIfNegative val="1"/>
            <c:bubble3D val="0"/>
            <c:spPr>
              <a:solidFill>
                <a:schemeClr val="dk1">
                  <a:tint val="78000"/>
                </a:schemeClr>
              </a:solidFill>
              <a:ln>
                <a:noFill/>
              </a:ln>
              <a:effectLst/>
            </c:spPr>
            <c:extLst>
              <c:ext xmlns:c16="http://schemas.microsoft.com/office/drawing/2014/chart" uri="{C3380CC4-5D6E-409C-BE32-E72D297353CC}">
                <c16:uniqueId val="{00000005-6719-364B-B389-5D68D7504A8C}"/>
              </c:ext>
            </c:extLst>
          </c:dPt>
          <c:dPt>
            <c:idx val="3"/>
            <c:invertIfNegative val="1"/>
            <c:bubble3D val="0"/>
            <c:spPr>
              <a:solidFill>
                <a:schemeClr val="dk1">
                  <a:tint val="92000"/>
                </a:schemeClr>
              </a:solidFill>
              <a:ln>
                <a:noFill/>
              </a:ln>
              <a:effectLst/>
            </c:spPr>
            <c:extLst>
              <c:ext xmlns:c16="http://schemas.microsoft.com/office/drawing/2014/chart" uri="{C3380CC4-5D6E-409C-BE32-E72D297353CC}">
                <c16:uniqueId val="{00000007-6719-364B-B389-5D68D7504A8C}"/>
              </c:ext>
            </c:extLst>
          </c:dPt>
          <c:dPt>
            <c:idx val="4"/>
            <c:invertIfNegative val="1"/>
            <c:bubble3D val="0"/>
            <c:spPr>
              <a:solidFill>
                <a:schemeClr val="dk1">
                  <a:tint val="70000"/>
                </a:schemeClr>
              </a:solidFill>
              <a:ln>
                <a:noFill/>
              </a:ln>
              <a:effectLst/>
            </c:spPr>
            <c:extLst>
              <c:ext xmlns:c16="http://schemas.microsoft.com/office/drawing/2014/chart" uri="{C3380CC4-5D6E-409C-BE32-E72D297353CC}">
                <c16:uniqueId val="{00000009-6719-364B-B389-5D68D7504A8C}"/>
              </c:ext>
            </c:extLst>
          </c:dPt>
          <c:cat>
            <c:strRef>
              <c:f>Sheet1!$A$2:$A$6</c:f>
              <c:strCache>
                <c:ptCount val="5"/>
                <c:pt idx="0">
                  <c:v>8:00</c:v>
                </c:pt>
                <c:pt idx="1">
                  <c:v>10:00</c:v>
                </c:pt>
                <c:pt idx="2">
                  <c:v>12:00</c:v>
                </c:pt>
                <c:pt idx="3">
                  <c:v>14:00</c:v>
                </c:pt>
                <c:pt idx="4">
                  <c:v>16:00</c:v>
                </c:pt>
              </c:strCache>
            </c:strRef>
          </c:cat>
          <c:val>
            <c:numRef>
              <c:f>Sheet1!$B$2:$B$6</c:f>
              <c:numCache>
                <c:formatCode>General</c:formatCode>
                <c:ptCount val="5"/>
                <c:pt idx="0">
                  <c:v>45</c:v>
                </c:pt>
                <c:pt idx="1">
                  <c:v>95</c:v>
                </c:pt>
                <c:pt idx="2">
                  <c:v>100</c:v>
                </c:pt>
                <c:pt idx="3">
                  <c:v>98</c:v>
                </c:pt>
                <c:pt idx="4">
                  <c:v>90</c:v>
                </c:pt>
              </c:numCache>
            </c:numRef>
          </c:val>
          <c:extLst>
            <c:ext xmlns:c16="http://schemas.microsoft.com/office/drawing/2014/chart" uri="{C3380CC4-5D6E-409C-BE32-E72D297353CC}">
              <c16:uniqueId val="{00000000-AF19-B84B-B728-C66609E1068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noFill/>
          <a:ln w="9525" cap="flat" cmpd="sng" algn="ctr">
            <a:solidFill>
              <a:schemeClr val="tx1">
                <a:shade val="95000"/>
                <a:satMod val="105000"/>
              </a:schemeClr>
            </a:solidFill>
            <a:prstDash val="solid"/>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9525" cap="flat" cmpd="sng" algn="ctr">
              <a:solidFill>
                <a:schemeClr val="tx1">
                  <a:shade val="95000"/>
                  <a:satMod val="105000"/>
                </a:schemeClr>
              </a:solidFill>
              <a:prstDash val="solid"/>
              <a:round/>
            </a:ln>
            <a:effectLst/>
          </c:spPr>
        </c:majorGridlines>
        <c:numFmt formatCode="General" sourceLinked="1"/>
        <c:majorTickMark val="out"/>
        <c:minorTickMark val="none"/>
        <c:tickLblPos val="nextTo"/>
        <c:spPr>
          <a:noFill/>
          <a:ln w="9525" cap="flat" cmpd="sng" algn="ctr">
            <a:solidFill>
              <a:schemeClr val="tx1">
                <a:shade val="95000"/>
                <a:satMod val="105000"/>
              </a:schemeClr>
            </a:solidFill>
            <a:prstDash val="solid"/>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068027336"/>
        <c:crosses val="autoZero"/>
        <c:crossBetween val="between"/>
      </c:valAx>
      <c:spPr>
        <a:noFill/>
        <a:ln>
          <a:noFill/>
        </a:ln>
        <a:effectLst/>
      </c:spPr>
    </c:plotArea>
    <c:plotVisOnly val="1"/>
    <c:dispBlanksAs val="gap"/>
    <c:showDLblsOverMax val="1"/>
  </c:chart>
  <c:spPr>
    <a:noFill/>
    <a:ln w="9525" cap="flat" cmpd="sng" algn="ctr">
      <a:noFill/>
      <a:prstDash val="solid"/>
    </a:ln>
    <a:effectLst/>
  </c:spPr>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r>
              <a:rPr lang="en-US"/>
              <a:t>Weekday vs Weekend (%)</a:t>
            </a:r>
          </a:p>
        </c:rich>
      </c:tx>
      <c:overlay val="0"/>
      <c:spPr>
        <a:noFill/>
        <a:ln>
          <a:noFill/>
        </a:ln>
        <a:effectLst/>
      </c:spPr>
    </c:title>
    <c:autoTitleDeleted val="0"/>
    <c:plotArea>
      <c:layout/>
      <c:barChart>
        <c:barDir val="bar"/>
        <c:grouping val="clustered"/>
        <c:varyColors val="1"/>
        <c:ser>
          <c:idx val="0"/>
          <c:order val="0"/>
          <c:tx>
            <c:strRef>
              <c:f>Sheet1!$B$1</c:f>
              <c:strCache>
                <c:ptCount val="1"/>
                <c:pt idx="0">
                  <c:v>Weekdays</c:v>
                </c:pt>
              </c:strCache>
            </c:strRef>
          </c:tx>
          <c:spPr>
            <a:solidFill>
              <a:srgbClr val="616161"/>
            </a:solidFill>
            <a:ln>
              <a:noFill/>
            </a:ln>
            <a:effectLst/>
          </c:spPr>
          <c:invertIfNegative val="1"/>
          <c:cat>
            <c:strRef>
              <c:f>Sheet1!$A$2:$A$5</c:f>
              <c:strCache>
                <c:ptCount val="4"/>
                <c:pt idx="0">
                  <c:v>Morning</c:v>
                </c:pt>
                <c:pt idx="1">
                  <c:v>Late Morning</c:v>
                </c:pt>
                <c:pt idx="2">
                  <c:v>Mid-day</c:v>
                </c:pt>
                <c:pt idx="3">
                  <c:v>Afternoon</c:v>
                </c:pt>
              </c:strCache>
            </c:strRef>
          </c:cat>
          <c:val>
            <c:numRef>
              <c:f>Sheet1!$B$2:$B$5</c:f>
              <c:numCache>
                <c:formatCode>General</c:formatCode>
                <c:ptCount val="4"/>
                <c:pt idx="0">
                  <c:v>40</c:v>
                </c:pt>
                <c:pt idx="1">
                  <c:v>95</c:v>
                </c:pt>
                <c:pt idx="2">
                  <c:v>98</c:v>
                </c:pt>
                <c:pt idx="3">
                  <c:v>85</c:v>
                </c:pt>
              </c:numCache>
            </c:numRef>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0-9EB4-2346-8366-204ACD9EC6DD}"/>
            </c:ext>
          </c:extLst>
        </c:ser>
        <c:ser>
          <c:idx val="1"/>
          <c:order val="1"/>
          <c:tx>
            <c:strRef>
              <c:f>Sheet1!$C$1</c:f>
              <c:strCache>
                <c:ptCount val="1"/>
                <c:pt idx="0">
                  <c:v>Weekends</c:v>
                </c:pt>
              </c:strCache>
            </c:strRef>
          </c:tx>
          <c:spPr>
            <a:solidFill>
              <a:srgbClr val="B3B3B3"/>
            </a:solidFill>
            <a:ln>
              <a:noFill/>
            </a:ln>
            <a:effectLst/>
          </c:spPr>
          <c:invertIfNegative val="1"/>
          <c:cat>
            <c:strRef>
              <c:f>Sheet1!$A$2:$A$5</c:f>
              <c:strCache>
                <c:ptCount val="4"/>
                <c:pt idx="0">
                  <c:v>Morning</c:v>
                </c:pt>
                <c:pt idx="1">
                  <c:v>Late Morning</c:v>
                </c:pt>
                <c:pt idx="2">
                  <c:v>Mid-day</c:v>
                </c:pt>
                <c:pt idx="3">
                  <c:v>Afternoon</c:v>
                </c:pt>
              </c:strCache>
            </c:strRef>
          </c:cat>
          <c:val>
            <c:numRef>
              <c:f>Sheet1!$C$2:$C$5</c:f>
              <c:numCache>
                <c:formatCode>General</c:formatCode>
                <c:ptCount val="4"/>
                <c:pt idx="0">
                  <c:v>30</c:v>
                </c:pt>
                <c:pt idx="1">
                  <c:v>85</c:v>
                </c:pt>
                <c:pt idx="2">
                  <c:v>90</c:v>
                </c:pt>
                <c:pt idx="3">
                  <c:v>80</c:v>
                </c:pt>
              </c:numCache>
            </c:numRef>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1-9EB4-2346-8366-204ACD9EC6D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noFill/>
          <a:ln w="9525" cap="flat" cmpd="sng" algn="ctr">
            <a:solidFill>
              <a:schemeClr val="tx1">
                <a:shade val="95000"/>
                <a:satMod val="105000"/>
              </a:schemeClr>
            </a:solidFill>
            <a:prstDash val="solid"/>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9525" cap="flat" cmpd="sng" algn="ctr">
              <a:solidFill>
                <a:schemeClr val="tx1">
                  <a:shade val="95000"/>
                  <a:satMod val="105000"/>
                </a:schemeClr>
              </a:solidFill>
              <a:prstDash val="solid"/>
              <a:round/>
            </a:ln>
            <a:effectLst/>
          </c:spPr>
        </c:majorGridlines>
        <c:numFmt formatCode="General" sourceLinked="1"/>
        <c:majorTickMark val="out"/>
        <c:minorTickMark val="none"/>
        <c:tickLblPos val="nextTo"/>
        <c:spPr>
          <a:noFill/>
          <a:ln w="9525" cap="flat" cmpd="sng" algn="ctr">
            <a:solidFill>
              <a:schemeClr val="tx1">
                <a:shade val="95000"/>
                <a:satMod val="105000"/>
              </a:schemeClr>
            </a:solidFill>
            <a:prstDash val="solid"/>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068027336"/>
        <c:crosses val="autoZero"/>
        <c:crossBetween val="between"/>
      </c:valAx>
      <c:spPr>
        <a:noFill/>
        <a:ln>
          <a:noFill/>
        </a:ln>
        <a:effectLst/>
      </c:spPr>
    </c:plotArea>
    <c:legend>
      <c:legendPos val="r"/>
      <c:overlay val="1"/>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legend>
    <c:plotVisOnly val="1"/>
    <c:dispBlanksAs val="gap"/>
    <c:showDLblsOverMax val="1"/>
  </c:chart>
  <c:spPr>
    <a:noFill/>
    <a:ln w="9525" cap="flat" cmpd="sng" algn="ctr">
      <a:noFill/>
      <a:prstDash val="solid"/>
    </a:ln>
    <a:effectLst/>
  </c:spPr>
  <c:txPr>
    <a:bodyPr/>
    <a:lstStyle/>
    <a:p>
      <a:pPr>
        <a:defRPr sz="1800"/>
      </a:pPr>
      <a:endParaRPr lang="en-US"/>
    </a:p>
  </c:txPr>
  <c:externalData r:id="rId1">
    <c:autoUpdate val="0"/>
  </c:externalData>
</c:chartSpace>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3C5B7CDF-403D-4FDD-925E-C0188C2A9E1F}"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71E1F34-FF16-41D5-BA85-560539A17CDF}">
      <dgm:prSet/>
      <dgm:spPr/>
      <dgm:t>
        <a:bodyPr/>
        <a:lstStyle/>
        <a:p>
          <a:pPr>
            <a:defRPr cap="all"/>
          </a:pPr>
          <a:r>
            <a:rPr lang="en-US"/>
            <a:t>Short-term: Dynamic pricing and real-time monitoring.</a:t>
          </a:r>
        </a:p>
      </dgm:t>
    </dgm:pt>
    <dgm:pt modelId="{97D8F674-5A14-4018-AE9F-B886E92EB477}" type="parTrans" cxnId="{D28601E5-1597-4F74-B995-87C1841784BA}">
      <dgm:prSet/>
      <dgm:spPr/>
      <dgm:t>
        <a:bodyPr/>
        <a:lstStyle/>
        <a:p>
          <a:endParaRPr lang="en-US"/>
        </a:p>
      </dgm:t>
    </dgm:pt>
    <dgm:pt modelId="{4D2D29E6-8F9C-4769-9687-F389B9E958BF}" type="sibTrans" cxnId="{D28601E5-1597-4F74-B995-87C1841784BA}">
      <dgm:prSet/>
      <dgm:spPr/>
      <dgm:t>
        <a:bodyPr/>
        <a:lstStyle/>
        <a:p>
          <a:endParaRPr lang="en-US"/>
        </a:p>
      </dgm:t>
    </dgm:pt>
    <dgm:pt modelId="{FA6A841C-2A9D-40EF-AA12-6862F83D97AF}">
      <dgm:prSet/>
      <dgm:spPr/>
      <dgm:t>
        <a:bodyPr/>
        <a:lstStyle/>
        <a:p>
          <a:pPr>
            <a:defRPr cap="all"/>
          </a:pPr>
          <a:r>
            <a:rPr lang="en-US"/>
            <a:t>Mid-term: Remote parking with shuttle service.</a:t>
          </a:r>
        </a:p>
      </dgm:t>
    </dgm:pt>
    <dgm:pt modelId="{26A0C440-9A3A-4D15-A8CD-A38C8CD24155}" type="parTrans" cxnId="{E3C1B431-5919-49CC-9BB0-DF25A89A2A81}">
      <dgm:prSet/>
      <dgm:spPr/>
      <dgm:t>
        <a:bodyPr/>
        <a:lstStyle/>
        <a:p>
          <a:endParaRPr lang="en-US"/>
        </a:p>
      </dgm:t>
    </dgm:pt>
    <dgm:pt modelId="{D1895E00-53CD-4398-8BA3-DDA9CCEB0495}" type="sibTrans" cxnId="{E3C1B431-5919-49CC-9BB0-DF25A89A2A81}">
      <dgm:prSet/>
      <dgm:spPr/>
      <dgm:t>
        <a:bodyPr/>
        <a:lstStyle/>
        <a:p>
          <a:endParaRPr lang="en-US"/>
        </a:p>
      </dgm:t>
    </dgm:pt>
    <dgm:pt modelId="{8D0A82AC-A7F0-4E0E-8E21-5E397026EDE5}">
      <dgm:prSet/>
      <dgm:spPr/>
      <dgm:t>
        <a:bodyPr/>
        <a:lstStyle/>
        <a:p>
          <a:pPr>
            <a:defRPr cap="all"/>
          </a:pPr>
          <a:r>
            <a:rPr lang="en-US"/>
            <a:t>Long-term: Lot expansion and infrastructure upgrades.</a:t>
          </a:r>
        </a:p>
      </dgm:t>
    </dgm:pt>
    <dgm:pt modelId="{F3941B95-9962-473B-90D7-925FBEB68FF7}" type="parTrans" cxnId="{7679E7FC-5ED2-4732-BE40-00610D006E01}">
      <dgm:prSet/>
      <dgm:spPr/>
      <dgm:t>
        <a:bodyPr/>
        <a:lstStyle/>
        <a:p>
          <a:endParaRPr lang="en-US"/>
        </a:p>
      </dgm:t>
    </dgm:pt>
    <dgm:pt modelId="{692D3906-4DE6-4553-9EB3-C70DF87DFE51}" type="sibTrans" cxnId="{7679E7FC-5ED2-4732-BE40-00610D006E01}">
      <dgm:prSet/>
      <dgm:spPr/>
      <dgm:t>
        <a:bodyPr/>
        <a:lstStyle/>
        <a:p>
          <a:endParaRPr lang="en-US"/>
        </a:p>
      </dgm:t>
    </dgm:pt>
    <dgm:pt modelId="{7F5D8183-101E-4E14-91D8-2B8F2396E18B}" type="pres">
      <dgm:prSet presAssocID="{3C5B7CDF-403D-4FDD-925E-C0188C2A9E1F}" presName="root" presStyleCnt="0">
        <dgm:presLayoutVars>
          <dgm:dir/>
          <dgm:resizeHandles val="exact"/>
        </dgm:presLayoutVars>
      </dgm:prSet>
      <dgm:spPr/>
    </dgm:pt>
    <dgm:pt modelId="{B66A28DE-D48B-426B-9A82-7683BCF23872}" type="pres">
      <dgm:prSet presAssocID="{971E1F34-FF16-41D5-BA85-560539A17CDF}" presName="compNode" presStyleCnt="0"/>
      <dgm:spPr/>
    </dgm:pt>
    <dgm:pt modelId="{A060DEC3-53FC-47B6-A9FE-3072468C67BF}" type="pres">
      <dgm:prSet presAssocID="{971E1F34-FF16-41D5-BA85-560539A17CDF}" presName="iconBgRect" presStyleLbl="bgShp" presStyleIdx="0" presStyleCnt="3"/>
      <dgm:spPr/>
    </dgm:pt>
    <dgm:pt modelId="{CC957C40-BD6C-4BF0-8D53-E1F01DA986BC}" type="pres">
      <dgm:prSet presAssocID="{971E1F34-FF16-41D5-BA85-560539A17CD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idney"/>
        </a:ext>
      </dgm:extLst>
    </dgm:pt>
    <dgm:pt modelId="{BAC49276-5EF0-4453-A214-ECBD3313274A}" type="pres">
      <dgm:prSet presAssocID="{971E1F34-FF16-41D5-BA85-560539A17CDF}" presName="spaceRect" presStyleCnt="0"/>
      <dgm:spPr/>
    </dgm:pt>
    <dgm:pt modelId="{92DCF581-88AD-4B04-A1BB-ED4358156242}" type="pres">
      <dgm:prSet presAssocID="{971E1F34-FF16-41D5-BA85-560539A17CDF}" presName="textRect" presStyleLbl="revTx" presStyleIdx="0" presStyleCnt="3">
        <dgm:presLayoutVars>
          <dgm:chMax val="1"/>
          <dgm:chPref val="1"/>
        </dgm:presLayoutVars>
      </dgm:prSet>
      <dgm:spPr/>
    </dgm:pt>
    <dgm:pt modelId="{0871D170-A511-4AB0-97EB-94FC79D580D5}" type="pres">
      <dgm:prSet presAssocID="{4D2D29E6-8F9C-4769-9687-F389B9E958BF}" presName="sibTrans" presStyleCnt="0"/>
      <dgm:spPr/>
    </dgm:pt>
    <dgm:pt modelId="{27D07BF5-CE4E-46BA-8BE9-5194F976DBBE}" type="pres">
      <dgm:prSet presAssocID="{FA6A841C-2A9D-40EF-AA12-6862F83D97AF}" presName="compNode" presStyleCnt="0"/>
      <dgm:spPr/>
    </dgm:pt>
    <dgm:pt modelId="{C3CAA495-03BE-49EF-99E3-A5387074691A}" type="pres">
      <dgm:prSet presAssocID="{FA6A841C-2A9D-40EF-AA12-6862F83D97AF}" presName="iconBgRect" presStyleLbl="bgShp" presStyleIdx="1" presStyleCnt="3"/>
      <dgm:spPr/>
    </dgm:pt>
    <dgm:pt modelId="{E771C6A4-C661-4BFF-AA93-0579901D0DC7}" type="pres">
      <dgm:prSet presAssocID="{FA6A841C-2A9D-40EF-AA12-6862F83D97A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
        </a:ext>
      </dgm:extLst>
    </dgm:pt>
    <dgm:pt modelId="{0794598B-E960-41B6-B7D7-FA273AC1FDEF}" type="pres">
      <dgm:prSet presAssocID="{FA6A841C-2A9D-40EF-AA12-6862F83D97AF}" presName="spaceRect" presStyleCnt="0"/>
      <dgm:spPr/>
    </dgm:pt>
    <dgm:pt modelId="{C63197D7-85E4-4EC2-BAB8-70C08DFE1401}" type="pres">
      <dgm:prSet presAssocID="{FA6A841C-2A9D-40EF-AA12-6862F83D97AF}" presName="textRect" presStyleLbl="revTx" presStyleIdx="1" presStyleCnt="3">
        <dgm:presLayoutVars>
          <dgm:chMax val="1"/>
          <dgm:chPref val="1"/>
        </dgm:presLayoutVars>
      </dgm:prSet>
      <dgm:spPr/>
    </dgm:pt>
    <dgm:pt modelId="{652284A2-12F8-4289-9B82-BDE11FCA40AF}" type="pres">
      <dgm:prSet presAssocID="{D1895E00-53CD-4398-8BA3-DDA9CCEB0495}" presName="sibTrans" presStyleCnt="0"/>
      <dgm:spPr/>
    </dgm:pt>
    <dgm:pt modelId="{565CAAF9-417B-43A7-BAB0-45FED19CD6EE}" type="pres">
      <dgm:prSet presAssocID="{8D0A82AC-A7F0-4E0E-8E21-5E397026EDE5}" presName="compNode" presStyleCnt="0"/>
      <dgm:spPr/>
    </dgm:pt>
    <dgm:pt modelId="{B9FD9B0C-0503-4DAC-8B46-FEB3CD837C23}" type="pres">
      <dgm:prSet presAssocID="{8D0A82AC-A7F0-4E0E-8E21-5E397026EDE5}" presName="iconBgRect" presStyleLbl="bgShp" presStyleIdx="2" presStyleCnt="3"/>
      <dgm:spPr/>
    </dgm:pt>
    <dgm:pt modelId="{F6632E1A-D6B1-4955-8454-EAD00188A124}" type="pres">
      <dgm:prSet presAssocID="{8D0A82AC-A7F0-4E0E-8E21-5E397026EDE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98B1DAD5-ECF0-49C1-8AC6-8DE7BFADEA61}" type="pres">
      <dgm:prSet presAssocID="{8D0A82AC-A7F0-4E0E-8E21-5E397026EDE5}" presName="spaceRect" presStyleCnt="0"/>
      <dgm:spPr/>
    </dgm:pt>
    <dgm:pt modelId="{BF563E56-C9A5-4E6F-B1E0-AC93F45029F7}" type="pres">
      <dgm:prSet presAssocID="{8D0A82AC-A7F0-4E0E-8E21-5E397026EDE5}" presName="textRect" presStyleLbl="revTx" presStyleIdx="2" presStyleCnt="3">
        <dgm:presLayoutVars>
          <dgm:chMax val="1"/>
          <dgm:chPref val="1"/>
        </dgm:presLayoutVars>
      </dgm:prSet>
      <dgm:spPr/>
    </dgm:pt>
  </dgm:ptLst>
  <dgm:cxnLst>
    <dgm:cxn modelId="{66EEF530-EE4E-482C-A40D-78E03E9C7C96}" type="presOf" srcId="{3C5B7CDF-403D-4FDD-925E-C0188C2A9E1F}" destId="{7F5D8183-101E-4E14-91D8-2B8F2396E18B}" srcOrd="0" destOrd="0" presId="urn:microsoft.com/office/officeart/2018/5/layout/IconCircleLabelList"/>
    <dgm:cxn modelId="{E3C1B431-5919-49CC-9BB0-DF25A89A2A81}" srcId="{3C5B7CDF-403D-4FDD-925E-C0188C2A9E1F}" destId="{FA6A841C-2A9D-40EF-AA12-6862F83D97AF}" srcOrd="1" destOrd="0" parTransId="{26A0C440-9A3A-4D15-A8CD-A38C8CD24155}" sibTransId="{D1895E00-53CD-4398-8BA3-DDA9CCEB0495}"/>
    <dgm:cxn modelId="{C48E813C-3EAA-49DF-91C5-69D208421E60}" type="presOf" srcId="{971E1F34-FF16-41D5-BA85-560539A17CDF}" destId="{92DCF581-88AD-4B04-A1BB-ED4358156242}" srcOrd="0" destOrd="0" presId="urn:microsoft.com/office/officeart/2018/5/layout/IconCircleLabelList"/>
    <dgm:cxn modelId="{D28601E5-1597-4F74-B995-87C1841784BA}" srcId="{3C5B7CDF-403D-4FDD-925E-C0188C2A9E1F}" destId="{971E1F34-FF16-41D5-BA85-560539A17CDF}" srcOrd="0" destOrd="0" parTransId="{97D8F674-5A14-4018-AE9F-B886E92EB477}" sibTransId="{4D2D29E6-8F9C-4769-9687-F389B9E958BF}"/>
    <dgm:cxn modelId="{8DE424F3-ECAC-4DD8-90C8-072759C555D4}" type="presOf" srcId="{8D0A82AC-A7F0-4E0E-8E21-5E397026EDE5}" destId="{BF563E56-C9A5-4E6F-B1E0-AC93F45029F7}" srcOrd="0" destOrd="0" presId="urn:microsoft.com/office/officeart/2018/5/layout/IconCircleLabelList"/>
    <dgm:cxn modelId="{6D65C9F7-5866-46B9-B63C-5B38F8963CC3}" type="presOf" srcId="{FA6A841C-2A9D-40EF-AA12-6862F83D97AF}" destId="{C63197D7-85E4-4EC2-BAB8-70C08DFE1401}" srcOrd="0" destOrd="0" presId="urn:microsoft.com/office/officeart/2018/5/layout/IconCircleLabelList"/>
    <dgm:cxn modelId="{7679E7FC-5ED2-4732-BE40-00610D006E01}" srcId="{3C5B7CDF-403D-4FDD-925E-C0188C2A9E1F}" destId="{8D0A82AC-A7F0-4E0E-8E21-5E397026EDE5}" srcOrd="2" destOrd="0" parTransId="{F3941B95-9962-473B-90D7-925FBEB68FF7}" sibTransId="{692D3906-4DE6-4553-9EB3-C70DF87DFE51}"/>
    <dgm:cxn modelId="{EBF1CEF7-FD1F-4664-9872-B4010C02056E}" type="presParOf" srcId="{7F5D8183-101E-4E14-91D8-2B8F2396E18B}" destId="{B66A28DE-D48B-426B-9A82-7683BCF23872}" srcOrd="0" destOrd="0" presId="urn:microsoft.com/office/officeart/2018/5/layout/IconCircleLabelList"/>
    <dgm:cxn modelId="{FA9098D0-C35B-4376-A0CA-5FBB38204C58}" type="presParOf" srcId="{B66A28DE-D48B-426B-9A82-7683BCF23872}" destId="{A060DEC3-53FC-47B6-A9FE-3072468C67BF}" srcOrd="0" destOrd="0" presId="urn:microsoft.com/office/officeart/2018/5/layout/IconCircleLabelList"/>
    <dgm:cxn modelId="{97738EC6-5D73-4977-91E5-A14DC994C007}" type="presParOf" srcId="{B66A28DE-D48B-426B-9A82-7683BCF23872}" destId="{CC957C40-BD6C-4BF0-8D53-E1F01DA986BC}" srcOrd="1" destOrd="0" presId="urn:microsoft.com/office/officeart/2018/5/layout/IconCircleLabelList"/>
    <dgm:cxn modelId="{8B2439CA-F8AB-4B74-86D9-148607144BC8}" type="presParOf" srcId="{B66A28DE-D48B-426B-9A82-7683BCF23872}" destId="{BAC49276-5EF0-4453-A214-ECBD3313274A}" srcOrd="2" destOrd="0" presId="urn:microsoft.com/office/officeart/2018/5/layout/IconCircleLabelList"/>
    <dgm:cxn modelId="{58A23DFD-1A53-4D2D-9A41-EAFB93453DE6}" type="presParOf" srcId="{B66A28DE-D48B-426B-9A82-7683BCF23872}" destId="{92DCF581-88AD-4B04-A1BB-ED4358156242}" srcOrd="3" destOrd="0" presId="urn:microsoft.com/office/officeart/2018/5/layout/IconCircleLabelList"/>
    <dgm:cxn modelId="{48E3BB1D-0E5C-43B9-BB2E-C1A91BF8C2FC}" type="presParOf" srcId="{7F5D8183-101E-4E14-91D8-2B8F2396E18B}" destId="{0871D170-A511-4AB0-97EB-94FC79D580D5}" srcOrd="1" destOrd="0" presId="urn:microsoft.com/office/officeart/2018/5/layout/IconCircleLabelList"/>
    <dgm:cxn modelId="{33E74FC2-A22E-4ECE-B222-5C24116BE271}" type="presParOf" srcId="{7F5D8183-101E-4E14-91D8-2B8F2396E18B}" destId="{27D07BF5-CE4E-46BA-8BE9-5194F976DBBE}" srcOrd="2" destOrd="0" presId="urn:microsoft.com/office/officeart/2018/5/layout/IconCircleLabelList"/>
    <dgm:cxn modelId="{B9699C16-9932-454D-9A24-DA5F580CF7E2}" type="presParOf" srcId="{27D07BF5-CE4E-46BA-8BE9-5194F976DBBE}" destId="{C3CAA495-03BE-49EF-99E3-A5387074691A}" srcOrd="0" destOrd="0" presId="urn:microsoft.com/office/officeart/2018/5/layout/IconCircleLabelList"/>
    <dgm:cxn modelId="{63089607-3D6E-44B1-B38A-E0B9CB4CA3F7}" type="presParOf" srcId="{27D07BF5-CE4E-46BA-8BE9-5194F976DBBE}" destId="{E771C6A4-C661-4BFF-AA93-0579901D0DC7}" srcOrd="1" destOrd="0" presId="urn:microsoft.com/office/officeart/2018/5/layout/IconCircleLabelList"/>
    <dgm:cxn modelId="{E42EAD45-E0DE-4170-8102-5D7802CBD35E}" type="presParOf" srcId="{27D07BF5-CE4E-46BA-8BE9-5194F976DBBE}" destId="{0794598B-E960-41B6-B7D7-FA273AC1FDEF}" srcOrd="2" destOrd="0" presId="urn:microsoft.com/office/officeart/2018/5/layout/IconCircleLabelList"/>
    <dgm:cxn modelId="{B08457C8-3C55-41A7-98E7-56932819B330}" type="presParOf" srcId="{27D07BF5-CE4E-46BA-8BE9-5194F976DBBE}" destId="{C63197D7-85E4-4EC2-BAB8-70C08DFE1401}" srcOrd="3" destOrd="0" presId="urn:microsoft.com/office/officeart/2018/5/layout/IconCircleLabelList"/>
    <dgm:cxn modelId="{A1D78157-28EF-491B-8A31-41FF7343F2A5}" type="presParOf" srcId="{7F5D8183-101E-4E14-91D8-2B8F2396E18B}" destId="{652284A2-12F8-4289-9B82-BDE11FCA40AF}" srcOrd="3" destOrd="0" presId="urn:microsoft.com/office/officeart/2018/5/layout/IconCircleLabelList"/>
    <dgm:cxn modelId="{1176579E-DAAB-4638-A08D-0B2721C181C6}" type="presParOf" srcId="{7F5D8183-101E-4E14-91D8-2B8F2396E18B}" destId="{565CAAF9-417B-43A7-BAB0-45FED19CD6EE}" srcOrd="4" destOrd="0" presId="urn:microsoft.com/office/officeart/2018/5/layout/IconCircleLabelList"/>
    <dgm:cxn modelId="{68F3CBAB-B426-4851-8461-E5C084525894}" type="presParOf" srcId="{565CAAF9-417B-43A7-BAB0-45FED19CD6EE}" destId="{B9FD9B0C-0503-4DAC-8B46-FEB3CD837C23}" srcOrd="0" destOrd="0" presId="urn:microsoft.com/office/officeart/2018/5/layout/IconCircleLabelList"/>
    <dgm:cxn modelId="{A35B5354-F42C-407A-8ACE-8C0060566FC5}" type="presParOf" srcId="{565CAAF9-417B-43A7-BAB0-45FED19CD6EE}" destId="{F6632E1A-D6B1-4955-8454-EAD00188A124}" srcOrd="1" destOrd="0" presId="urn:microsoft.com/office/officeart/2018/5/layout/IconCircleLabelList"/>
    <dgm:cxn modelId="{8026DDE6-FF39-44DE-AA19-5C9A6D1DCBA6}" type="presParOf" srcId="{565CAAF9-417B-43A7-BAB0-45FED19CD6EE}" destId="{98B1DAD5-ECF0-49C1-8AC6-8DE7BFADEA61}" srcOrd="2" destOrd="0" presId="urn:microsoft.com/office/officeart/2018/5/layout/IconCircleLabelList"/>
    <dgm:cxn modelId="{C11B975C-6E31-451D-8968-DBA130A158F0}" type="presParOf" srcId="{565CAAF9-417B-43A7-BAB0-45FED19CD6EE}" destId="{BF563E56-C9A5-4E6F-B1E0-AC93F45029F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4BB5DA-61EC-4359-89E2-EF36DBFE74F1}"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495DC848-1378-49C4-A5A1-A23172F731B6}">
      <dgm:prSet/>
      <dgm:spPr/>
      <dgm:t>
        <a:bodyPr/>
        <a:lstStyle/>
        <a:p>
          <a:r>
            <a:rPr lang="en-US"/>
            <a:t>Lot02 frequently hits 100% occupancy, causing turn-aways.</a:t>
          </a:r>
        </a:p>
      </dgm:t>
    </dgm:pt>
    <dgm:pt modelId="{D7D03C59-7BD2-4925-9F79-A7CD7C56FC4A}" type="parTrans" cxnId="{3AA7783F-264B-4797-91A2-20A1B711B90F}">
      <dgm:prSet/>
      <dgm:spPr/>
      <dgm:t>
        <a:bodyPr/>
        <a:lstStyle/>
        <a:p>
          <a:endParaRPr lang="en-US"/>
        </a:p>
      </dgm:t>
    </dgm:pt>
    <dgm:pt modelId="{B7E6A379-4BAD-40FD-8513-8CD8AF2918CB}" type="sibTrans" cxnId="{3AA7783F-264B-4797-91A2-20A1B711B90F}">
      <dgm:prSet/>
      <dgm:spPr/>
      <dgm:t>
        <a:bodyPr/>
        <a:lstStyle/>
        <a:p>
          <a:endParaRPr lang="en-US"/>
        </a:p>
      </dgm:t>
    </dgm:pt>
    <dgm:pt modelId="{F098A69F-D2B0-425F-BB29-4DACBFFD2BAC}">
      <dgm:prSet/>
      <dgm:spPr/>
      <dgm:t>
        <a:bodyPr/>
        <a:lstStyle/>
        <a:p>
          <a:r>
            <a:rPr lang="en-US"/>
            <a:t>Lot01 remains above 90% for long periods, creating congestion.</a:t>
          </a:r>
        </a:p>
      </dgm:t>
    </dgm:pt>
    <dgm:pt modelId="{D7F4DF79-4272-4860-B087-46577B5EB1E9}" type="parTrans" cxnId="{426621FC-386A-46F6-92B3-082A4DDB19DD}">
      <dgm:prSet/>
      <dgm:spPr/>
      <dgm:t>
        <a:bodyPr/>
        <a:lstStyle/>
        <a:p>
          <a:endParaRPr lang="en-US"/>
        </a:p>
      </dgm:t>
    </dgm:pt>
    <dgm:pt modelId="{1FB698EE-070C-4FFC-85B9-92E818069E96}" type="sibTrans" cxnId="{426621FC-386A-46F6-92B3-082A4DDB19DD}">
      <dgm:prSet/>
      <dgm:spPr/>
      <dgm:t>
        <a:bodyPr/>
        <a:lstStyle/>
        <a:p>
          <a:endParaRPr lang="en-US"/>
        </a:p>
      </dgm:t>
    </dgm:pt>
    <dgm:pt modelId="{4B483464-A134-49C8-930A-033CF8D28D4E}">
      <dgm:prSet/>
      <dgm:spPr/>
      <dgm:t>
        <a:bodyPr/>
        <a:lstStyle/>
        <a:p>
          <a:r>
            <a:rPr lang="en-US"/>
            <a:t>Drivers experience frustration and longer search times.</a:t>
          </a:r>
        </a:p>
      </dgm:t>
    </dgm:pt>
    <dgm:pt modelId="{C1415F7D-D369-466C-A1B6-B127E26C1251}" type="parTrans" cxnId="{9428D3E3-7D67-4BAE-9AD4-ADCEB3A46F5B}">
      <dgm:prSet/>
      <dgm:spPr/>
      <dgm:t>
        <a:bodyPr/>
        <a:lstStyle/>
        <a:p>
          <a:endParaRPr lang="en-US"/>
        </a:p>
      </dgm:t>
    </dgm:pt>
    <dgm:pt modelId="{B5ECE5A3-D33F-4B91-9BAF-4D0E30FF19BD}" type="sibTrans" cxnId="{9428D3E3-7D67-4BAE-9AD4-ADCEB3A46F5B}">
      <dgm:prSet/>
      <dgm:spPr/>
      <dgm:t>
        <a:bodyPr/>
        <a:lstStyle/>
        <a:p>
          <a:endParaRPr lang="en-US"/>
        </a:p>
      </dgm:t>
    </dgm:pt>
    <dgm:pt modelId="{843071A1-43A8-48A4-938E-63F3A0CD2279}">
      <dgm:prSet/>
      <dgm:spPr/>
      <dgm:t>
        <a:bodyPr/>
        <a:lstStyle/>
        <a:p>
          <a:r>
            <a:rPr lang="en-US"/>
            <a:t>Structural under-supply during peak hours.</a:t>
          </a:r>
        </a:p>
      </dgm:t>
    </dgm:pt>
    <dgm:pt modelId="{8175745D-161F-4725-8AEC-E409D48CF8EA}" type="parTrans" cxnId="{BC473335-459A-4AE0-A0C1-E5047BBCCEAE}">
      <dgm:prSet/>
      <dgm:spPr/>
      <dgm:t>
        <a:bodyPr/>
        <a:lstStyle/>
        <a:p>
          <a:endParaRPr lang="en-US"/>
        </a:p>
      </dgm:t>
    </dgm:pt>
    <dgm:pt modelId="{37D33605-EDFE-4F44-9D78-C9989507F0C4}" type="sibTrans" cxnId="{BC473335-459A-4AE0-A0C1-E5047BBCCEAE}">
      <dgm:prSet/>
      <dgm:spPr/>
      <dgm:t>
        <a:bodyPr/>
        <a:lstStyle/>
        <a:p>
          <a:endParaRPr lang="en-US"/>
        </a:p>
      </dgm:t>
    </dgm:pt>
    <dgm:pt modelId="{D3CF67EC-9059-AE41-834D-D7DA8E51B92C}" type="pres">
      <dgm:prSet presAssocID="{FF4BB5DA-61EC-4359-89E2-EF36DBFE74F1}" presName="linear" presStyleCnt="0">
        <dgm:presLayoutVars>
          <dgm:animLvl val="lvl"/>
          <dgm:resizeHandles val="exact"/>
        </dgm:presLayoutVars>
      </dgm:prSet>
      <dgm:spPr/>
    </dgm:pt>
    <dgm:pt modelId="{D260C681-3E21-2D4C-8E6A-3E720F145134}" type="pres">
      <dgm:prSet presAssocID="{495DC848-1378-49C4-A5A1-A23172F731B6}" presName="parentText" presStyleLbl="node1" presStyleIdx="0" presStyleCnt="4">
        <dgm:presLayoutVars>
          <dgm:chMax val="0"/>
          <dgm:bulletEnabled val="1"/>
        </dgm:presLayoutVars>
      </dgm:prSet>
      <dgm:spPr/>
    </dgm:pt>
    <dgm:pt modelId="{BC5D30CC-D883-B849-BBC2-D743DD8CE311}" type="pres">
      <dgm:prSet presAssocID="{B7E6A379-4BAD-40FD-8513-8CD8AF2918CB}" presName="spacer" presStyleCnt="0"/>
      <dgm:spPr/>
    </dgm:pt>
    <dgm:pt modelId="{89F01B39-F870-6641-BC0C-61C92E499BDD}" type="pres">
      <dgm:prSet presAssocID="{F098A69F-D2B0-425F-BB29-4DACBFFD2BAC}" presName="parentText" presStyleLbl="node1" presStyleIdx="1" presStyleCnt="4">
        <dgm:presLayoutVars>
          <dgm:chMax val="0"/>
          <dgm:bulletEnabled val="1"/>
        </dgm:presLayoutVars>
      </dgm:prSet>
      <dgm:spPr/>
    </dgm:pt>
    <dgm:pt modelId="{D063813A-8DAF-0842-8349-5563E7FF14DC}" type="pres">
      <dgm:prSet presAssocID="{1FB698EE-070C-4FFC-85B9-92E818069E96}" presName="spacer" presStyleCnt="0"/>
      <dgm:spPr/>
    </dgm:pt>
    <dgm:pt modelId="{D1C105C1-0492-F247-A3F3-0D510B6E74CC}" type="pres">
      <dgm:prSet presAssocID="{4B483464-A134-49C8-930A-033CF8D28D4E}" presName="parentText" presStyleLbl="node1" presStyleIdx="2" presStyleCnt="4">
        <dgm:presLayoutVars>
          <dgm:chMax val="0"/>
          <dgm:bulletEnabled val="1"/>
        </dgm:presLayoutVars>
      </dgm:prSet>
      <dgm:spPr/>
    </dgm:pt>
    <dgm:pt modelId="{0F82630E-354B-9E42-A638-16228E8F933B}" type="pres">
      <dgm:prSet presAssocID="{B5ECE5A3-D33F-4B91-9BAF-4D0E30FF19BD}" presName="spacer" presStyleCnt="0"/>
      <dgm:spPr/>
    </dgm:pt>
    <dgm:pt modelId="{A025F8EA-7B5D-AD40-A9D1-EF1C79DBDAE5}" type="pres">
      <dgm:prSet presAssocID="{843071A1-43A8-48A4-938E-63F3A0CD2279}" presName="parentText" presStyleLbl="node1" presStyleIdx="3" presStyleCnt="4">
        <dgm:presLayoutVars>
          <dgm:chMax val="0"/>
          <dgm:bulletEnabled val="1"/>
        </dgm:presLayoutVars>
      </dgm:prSet>
      <dgm:spPr/>
    </dgm:pt>
  </dgm:ptLst>
  <dgm:cxnLst>
    <dgm:cxn modelId="{5BB88D12-9833-3947-A1E5-1AE6B3EE90B0}" type="presOf" srcId="{F098A69F-D2B0-425F-BB29-4DACBFFD2BAC}" destId="{89F01B39-F870-6641-BC0C-61C92E499BDD}" srcOrd="0" destOrd="0" presId="urn:microsoft.com/office/officeart/2005/8/layout/vList2"/>
    <dgm:cxn modelId="{528F7E28-2114-3A43-BCFD-66F4B9DC4DCC}" type="presOf" srcId="{495DC848-1378-49C4-A5A1-A23172F731B6}" destId="{D260C681-3E21-2D4C-8E6A-3E720F145134}" srcOrd="0" destOrd="0" presId="urn:microsoft.com/office/officeart/2005/8/layout/vList2"/>
    <dgm:cxn modelId="{BC473335-459A-4AE0-A0C1-E5047BBCCEAE}" srcId="{FF4BB5DA-61EC-4359-89E2-EF36DBFE74F1}" destId="{843071A1-43A8-48A4-938E-63F3A0CD2279}" srcOrd="3" destOrd="0" parTransId="{8175745D-161F-4725-8AEC-E409D48CF8EA}" sibTransId="{37D33605-EDFE-4F44-9D78-C9989507F0C4}"/>
    <dgm:cxn modelId="{3AA7783F-264B-4797-91A2-20A1B711B90F}" srcId="{FF4BB5DA-61EC-4359-89E2-EF36DBFE74F1}" destId="{495DC848-1378-49C4-A5A1-A23172F731B6}" srcOrd="0" destOrd="0" parTransId="{D7D03C59-7BD2-4925-9F79-A7CD7C56FC4A}" sibTransId="{B7E6A379-4BAD-40FD-8513-8CD8AF2918CB}"/>
    <dgm:cxn modelId="{4CE58354-CF75-E349-8F68-64596D5F0352}" type="presOf" srcId="{FF4BB5DA-61EC-4359-89E2-EF36DBFE74F1}" destId="{D3CF67EC-9059-AE41-834D-D7DA8E51B92C}" srcOrd="0" destOrd="0" presId="urn:microsoft.com/office/officeart/2005/8/layout/vList2"/>
    <dgm:cxn modelId="{E084FC5B-CF41-BC4C-AE9C-ED8F11621064}" type="presOf" srcId="{843071A1-43A8-48A4-938E-63F3A0CD2279}" destId="{A025F8EA-7B5D-AD40-A9D1-EF1C79DBDAE5}" srcOrd="0" destOrd="0" presId="urn:microsoft.com/office/officeart/2005/8/layout/vList2"/>
    <dgm:cxn modelId="{482EA599-6CE1-6B48-9695-A7418DA1C9A6}" type="presOf" srcId="{4B483464-A134-49C8-930A-033CF8D28D4E}" destId="{D1C105C1-0492-F247-A3F3-0D510B6E74CC}" srcOrd="0" destOrd="0" presId="urn:microsoft.com/office/officeart/2005/8/layout/vList2"/>
    <dgm:cxn modelId="{9428D3E3-7D67-4BAE-9AD4-ADCEB3A46F5B}" srcId="{FF4BB5DA-61EC-4359-89E2-EF36DBFE74F1}" destId="{4B483464-A134-49C8-930A-033CF8D28D4E}" srcOrd="2" destOrd="0" parTransId="{C1415F7D-D369-466C-A1B6-B127E26C1251}" sibTransId="{B5ECE5A3-D33F-4B91-9BAF-4D0E30FF19BD}"/>
    <dgm:cxn modelId="{426621FC-386A-46F6-92B3-082A4DDB19DD}" srcId="{FF4BB5DA-61EC-4359-89E2-EF36DBFE74F1}" destId="{F098A69F-D2B0-425F-BB29-4DACBFFD2BAC}" srcOrd="1" destOrd="0" parTransId="{D7F4DF79-4272-4860-B087-46577B5EB1E9}" sibTransId="{1FB698EE-070C-4FFC-85B9-92E818069E96}"/>
    <dgm:cxn modelId="{F6611723-9EE1-7940-80DF-C61AF54F73BE}" type="presParOf" srcId="{D3CF67EC-9059-AE41-834D-D7DA8E51B92C}" destId="{D260C681-3E21-2D4C-8E6A-3E720F145134}" srcOrd="0" destOrd="0" presId="urn:microsoft.com/office/officeart/2005/8/layout/vList2"/>
    <dgm:cxn modelId="{130460DC-1C3B-444D-ABB3-A2810221D479}" type="presParOf" srcId="{D3CF67EC-9059-AE41-834D-D7DA8E51B92C}" destId="{BC5D30CC-D883-B849-BBC2-D743DD8CE311}" srcOrd="1" destOrd="0" presId="urn:microsoft.com/office/officeart/2005/8/layout/vList2"/>
    <dgm:cxn modelId="{BDE1AA9D-5435-0D4A-B328-D22DBB525C76}" type="presParOf" srcId="{D3CF67EC-9059-AE41-834D-D7DA8E51B92C}" destId="{89F01B39-F870-6641-BC0C-61C92E499BDD}" srcOrd="2" destOrd="0" presId="urn:microsoft.com/office/officeart/2005/8/layout/vList2"/>
    <dgm:cxn modelId="{2BF9D0B4-1FB1-7448-89A3-60D652FB211A}" type="presParOf" srcId="{D3CF67EC-9059-AE41-834D-D7DA8E51B92C}" destId="{D063813A-8DAF-0842-8349-5563E7FF14DC}" srcOrd="3" destOrd="0" presId="urn:microsoft.com/office/officeart/2005/8/layout/vList2"/>
    <dgm:cxn modelId="{91468ED6-93C5-0C41-A709-842D0CAB9CFE}" type="presParOf" srcId="{D3CF67EC-9059-AE41-834D-D7DA8E51B92C}" destId="{D1C105C1-0492-F247-A3F3-0D510B6E74CC}" srcOrd="4" destOrd="0" presId="urn:microsoft.com/office/officeart/2005/8/layout/vList2"/>
    <dgm:cxn modelId="{2EB9DF3D-9130-AA44-85A8-E4675FF58636}" type="presParOf" srcId="{D3CF67EC-9059-AE41-834D-D7DA8E51B92C}" destId="{0F82630E-354B-9E42-A638-16228E8F933B}" srcOrd="5" destOrd="0" presId="urn:microsoft.com/office/officeart/2005/8/layout/vList2"/>
    <dgm:cxn modelId="{89253D21-96C8-004F-B8D6-0A29C78A69A5}" type="presParOf" srcId="{D3CF67EC-9059-AE41-834D-D7DA8E51B92C}" destId="{A025F8EA-7B5D-AD40-A9D1-EF1C79DBDAE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CD2C456-0FDB-49A9-8B25-D0AA257C9103}" type="doc">
      <dgm:prSet loTypeId="urn:microsoft.com/office/officeart/2016/7/layout/LinearBlockProcessNumbered" loCatId="process" qsTypeId="urn:microsoft.com/office/officeart/2005/8/quickstyle/simple4" qsCatId="simple" csTypeId="urn:microsoft.com/office/officeart/2005/8/colors/colorful5" csCatId="colorful"/>
      <dgm:spPr/>
      <dgm:t>
        <a:bodyPr/>
        <a:lstStyle/>
        <a:p>
          <a:endParaRPr lang="en-US"/>
        </a:p>
      </dgm:t>
    </dgm:pt>
    <dgm:pt modelId="{CDE7284F-2191-4DB2-9703-71351A597BC8}">
      <dgm:prSet/>
      <dgm:spPr/>
      <dgm:t>
        <a:bodyPr/>
        <a:lstStyle/>
        <a:p>
          <a:r>
            <a:rPr lang="en-US"/>
            <a:t>Deploy smart parking systems with IoT sensors.</a:t>
          </a:r>
        </a:p>
      </dgm:t>
    </dgm:pt>
    <dgm:pt modelId="{69307D2A-BD81-449A-98CB-B7921FEF7DE4}" type="parTrans" cxnId="{106369BC-CC8D-4B91-95DE-3E676F734D8E}">
      <dgm:prSet/>
      <dgm:spPr/>
      <dgm:t>
        <a:bodyPr/>
        <a:lstStyle/>
        <a:p>
          <a:endParaRPr lang="en-US"/>
        </a:p>
      </dgm:t>
    </dgm:pt>
    <dgm:pt modelId="{49593E80-D41C-4EFD-899F-F02DF44E7320}" type="sibTrans" cxnId="{106369BC-CC8D-4B91-95DE-3E676F734D8E}">
      <dgm:prSet phldrT="01" phldr="0"/>
      <dgm:spPr/>
      <dgm:t>
        <a:bodyPr/>
        <a:lstStyle/>
        <a:p>
          <a:r>
            <a:rPr lang="en-US"/>
            <a:t>01</a:t>
          </a:r>
        </a:p>
      </dgm:t>
    </dgm:pt>
    <dgm:pt modelId="{06DF3777-D201-4A47-B4D4-E97F6215104E}">
      <dgm:prSet/>
      <dgm:spPr/>
      <dgm:t>
        <a:bodyPr/>
        <a:lstStyle/>
        <a:p>
          <a:r>
            <a:rPr lang="en-US"/>
            <a:t>Implement dynamic pricing to manage demand.</a:t>
          </a:r>
        </a:p>
      </dgm:t>
    </dgm:pt>
    <dgm:pt modelId="{B20B68AB-EC78-418E-A437-662A4BDA3A6E}" type="parTrans" cxnId="{4328A9E2-33D7-4B75-BB88-AE0E8E834389}">
      <dgm:prSet/>
      <dgm:spPr/>
      <dgm:t>
        <a:bodyPr/>
        <a:lstStyle/>
        <a:p>
          <a:endParaRPr lang="en-US"/>
        </a:p>
      </dgm:t>
    </dgm:pt>
    <dgm:pt modelId="{4225F7CA-752A-450D-80FD-4C1928E7BE7A}" type="sibTrans" cxnId="{4328A9E2-33D7-4B75-BB88-AE0E8E834389}">
      <dgm:prSet phldrT="02" phldr="0"/>
      <dgm:spPr/>
      <dgm:t>
        <a:bodyPr/>
        <a:lstStyle/>
        <a:p>
          <a:r>
            <a:rPr lang="en-US"/>
            <a:t>02</a:t>
          </a:r>
        </a:p>
      </dgm:t>
    </dgm:pt>
    <dgm:pt modelId="{18DBC6DB-5AE8-4C9D-8DF4-A220B13E80B8}">
      <dgm:prSet/>
      <dgm:spPr/>
      <dgm:t>
        <a:bodyPr/>
        <a:lstStyle/>
        <a:p>
          <a:r>
            <a:rPr lang="en-US"/>
            <a:t>Integrate real-time availability into mobile apps.</a:t>
          </a:r>
        </a:p>
      </dgm:t>
    </dgm:pt>
    <dgm:pt modelId="{55F4F086-0FE7-4FE5-B5D3-12A349DE7B5B}" type="parTrans" cxnId="{B2CDC07C-EBEC-4877-9569-438FE96A703E}">
      <dgm:prSet/>
      <dgm:spPr/>
      <dgm:t>
        <a:bodyPr/>
        <a:lstStyle/>
        <a:p>
          <a:endParaRPr lang="en-US"/>
        </a:p>
      </dgm:t>
    </dgm:pt>
    <dgm:pt modelId="{41C93BBB-5E7E-45D4-9E10-F1CE6E1365F7}" type="sibTrans" cxnId="{B2CDC07C-EBEC-4877-9569-438FE96A703E}">
      <dgm:prSet phldrT="03" phldr="0"/>
      <dgm:spPr/>
      <dgm:t>
        <a:bodyPr/>
        <a:lstStyle/>
        <a:p>
          <a:r>
            <a:rPr lang="en-US"/>
            <a:t>03</a:t>
          </a:r>
        </a:p>
      </dgm:t>
    </dgm:pt>
    <dgm:pt modelId="{FD06BDF1-7317-4280-B34F-872875D26D0D}">
      <dgm:prSet/>
      <dgm:spPr/>
      <dgm:t>
        <a:bodyPr/>
        <a:lstStyle/>
        <a:p>
          <a:r>
            <a:rPr lang="en-US"/>
            <a:t>Promote sustainable transport options.</a:t>
          </a:r>
        </a:p>
      </dgm:t>
    </dgm:pt>
    <dgm:pt modelId="{72255FE4-05D4-4E97-842A-458B112A6B0D}" type="parTrans" cxnId="{1D93CB2C-3C78-4B9F-AE97-10CF482C01E5}">
      <dgm:prSet/>
      <dgm:spPr/>
      <dgm:t>
        <a:bodyPr/>
        <a:lstStyle/>
        <a:p>
          <a:endParaRPr lang="en-US"/>
        </a:p>
      </dgm:t>
    </dgm:pt>
    <dgm:pt modelId="{F1B264AF-37B1-42E8-8A5E-64F3856F66A0}" type="sibTrans" cxnId="{1D93CB2C-3C78-4B9F-AE97-10CF482C01E5}">
      <dgm:prSet phldrT="04" phldr="0"/>
      <dgm:spPr/>
      <dgm:t>
        <a:bodyPr/>
        <a:lstStyle/>
        <a:p>
          <a:r>
            <a:rPr lang="en-US"/>
            <a:t>04</a:t>
          </a:r>
        </a:p>
      </dgm:t>
    </dgm:pt>
    <dgm:pt modelId="{4340DD88-9744-A24A-90EC-6AFA572B2B7C}" type="pres">
      <dgm:prSet presAssocID="{2CD2C456-0FDB-49A9-8B25-D0AA257C9103}" presName="Name0" presStyleCnt="0">
        <dgm:presLayoutVars>
          <dgm:animLvl val="lvl"/>
          <dgm:resizeHandles val="exact"/>
        </dgm:presLayoutVars>
      </dgm:prSet>
      <dgm:spPr/>
    </dgm:pt>
    <dgm:pt modelId="{AE9229B4-D0D6-4D45-83C1-9AE70BF4FEFB}" type="pres">
      <dgm:prSet presAssocID="{CDE7284F-2191-4DB2-9703-71351A597BC8}" presName="compositeNode" presStyleCnt="0">
        <dgm:presLayoutVars>
          <dgm:bulletEnabled val="1"/>
        </dgm:presLayoutVars>
      </dgm:prSet>
      <dgm:spPr/>
    </dgm:pt>
    <dgm:pt modelId="{2CE9222D-DD11-D542-9676-99EB4A840CA4}" type="pres">
      <dgm:prSet presAssocID="{CDE7284F-2191-4DB2-9703-71351A597BC8}" presName="bgRect" presStyleLbl="alignNode1" presStyleIdx="0" presStyleCnt="4"/>
      <dgm:spPr/>
    </dgm:pt>
    <dgm:pt modelId="{241622ED-6400-2C4B-8BA6-B4F44CBC7AD6}" type="pres">
      <dgm:prSet presAssocID="{49593E80-D41C-4EFD-899F-F02DF44E7320}" presName="sibTransNodeRect" presStyleLbl="alignNode1" presStyleIdx="0" presStyleCnt="4">
        <dgm:presLayoutVars>
          <dgm:chMax val="0"/>
          <dgm:bulletEnabled val="1"/>
        </dgm:presLayoutVars>
      </dgm:prSet>
      <dgm:spPr/>
    </dgm:pt>
    <dgm:pt modelId="{DEE9978E-32F5-6F4F-961A-2548686D4105}" type="pres">
      <dgm:prSet presAssocID="{CDE7284F-2191-4DB2-9703-71351A597BC8}" presName="nodeRect" presStyleLbl="alignNode1" presStyleIdx="0" presStyleCnt="4">
        <dgm:presLayoutVars>
          <dgm:bulletEnabled val="1"/>
        </dgm:presLayoutVars>
      </dgm:prSet>
      <dgm:spPr/>
    </dgm:pt>
    <dgm:pt modelId="{B5913E10-67BC-F145-808B-59BDD1C7F56D}" type="pres">
      <dgm:prSet presAssocID="{49593E80-D41C-4EFD-899F-F02DF44E7320}" presName="sibTrans" presStyleCnt="0"/>
      <dgm:spPr/>
    </dgm:pt>
    <dgm:pt modelId="{6DB0BD30-FB7E-9244-8369-5E035D6716B4}" type="pres">
      <dgm:prSet presAssocID="{06DF3777-D201-4A47-B4D4-E97F6215104E}" presName="compositeNode" presStyleCnt="0">
        <dgm:presLayoutVars>
          <dgm:bulletEnabled val="1"/>
        </dgm:presLayoutVars>
      </dgm:prSet>
      <dgm:spPr/>
    </dgm:pt>
    <dgm:pt modelId="{92D48BAD-7E69-EE4E-82BD-1CA3433DC78F}" type="pres">
      <dgm:prSet presAssocID="{06DF3777-D201-4A47-B4D4-E97F6215104E}" presName="bgRect" presStyleLbl="alignNode1" presStyleIdx="1" presStyleCnt="4"/>
      <dgm:spPr/>
    </dgm:pt>
    <dgm:pt modelId="{44501306-E673-DF41-AADF-F56CA62EF68F}" type="pres">
      <dgm:prSet presAssocID="{4225F7CA-752A-450D-80FD-4C1928E7BE7A}" presName="sibTransNodeRect" presStyleLbl="alignNode1" presStyleIdx="1" presStyleCnt="4">
        <dgm:presLayoutVars>
          <dgm:chMax val="0"/>
          <dgm:bulletEnabled val="1"/>
        </dgm:presLayoutVars>
      </dgm:prSet>
      <dgm:spPr/>
    </dgm:pt>
    <dgm:pt modelId="{55BF71E7-EE88-6C4F-94E9-B117FD2363A9}" type="pres">
      <dgm:prSet presAssocID="{06DF3777-D201-4A47-B4D4-E97F6215104E}" presName="nodeRect" presStyleLbl="alignNode1" presStyleIdx="1" presStyleCnt="4">
        <dgm:presLayoutVars>
          <dgm:bulletEnabled val="1"/>
        </dgm:presLayoutVars>
      </dgm:prSet>
      <dgm:spPr/>
    </dgm:pt>
    <dgm:pt modelId="{AF66A78A-321B-6349-A828-FFACC21F1E52}" type="pres">
      <dgm:prSet presAssocID="{4225F7CA-752A-450D-80FD-4C1928E7BE7A}" presName="sibTrans" presStyleCnt="0"/>
      <dgm:spPr/>
    </dgm:pt>
    <dgm:pt modelId="{6579888E-EF42-484B-AAAA-63E1D22B971F}" type="pres">
      <dgm:prSet presAssocID="{18DBC6DB-5AE8-4C9D-8DF4-A220B13E80B8}" presName="compositeNode" presStyleCnt="0">
        <dgm:presLayoutVars>
          <dgm:bulletEnabled val="1"/>
        </dgm:presLayoutVars>
      </dgm:prSet>
      <dgm:spPr/>
    </dgm:pt>
    <dgm:pt modelId="{36E48EB5-3591-0F43-83D7-19EEF162F94E}" type="pres">
      <dgm:prSet presAssocID="{18DBC6DB-5AE8-4C9D-8DF4-A220B13E80B8}" presName="bgRect" presStyleLbl="alignNode1" presStyleIdx="2" presStyleCnt="4"/>
      <dgm:spPr/>
    </dgm:pt>
    <dgm:pt modelId="{58626337-3782-7A41-A40C-E8E24A8F380E}" type="pres">
      <dgm:prSet presAssocID="{41C93BBB-5E7E-45D4-9E10-F1CE6E1365F7}" presName="sibTransNodeRect" presStyleLbl="alignNode1" presStyleIdx="2" presStyleCnt="4">
        <dgm:presLayoutVars>
          <dgm:chMax val="0"/>
          <dgm:bulletEnabled val="1"/>
        </dgm:presLayoutVars>
      </dgm:prSet>
      <dgm:spPr/>
    </dgm:pt>
    <dgm:pt modelId="{1B759FE7-CA77-054D-BBDA-A07C925DE414}" type="pres">
      <dgm:prSet presAssocID="{18DBC6DB-5AE8-4C9D-8DF4-A220B13E80B8}" presName="nodeRect" presStyleLbl="alignNode1" presStyleIdx="2" presStyleCnt="4">
        <dgm:presLayoutVars>
          <dgm:bulletEnabled val="1"/>
        </dgm:presLayoutVars>
      </dgm:prSet>
      <dgm:spPr/>
    </dgm:pt>
    <dgm:pt modelId="{1EE57EFA-E98D-C741-8148-5C48230CEE3F}" type="pres">
      <dgm:prSet presAssocID="{41C93BBB-5E7E-45D4-9E10-F1CE6E1365F7}" presName="sibTrans" presStyleCnt="0"/>
      <dgm:spPr/>
    </dgm:pt>
    <dgm:pt modelId="{9914B2E6-E9C7-314A-8853-38E4FF2F9C7A}" type="pres">
      <dgm:prSet presAssocID="{FD06BDF1-7317-4280-B34F-872875D26D0D}" presName="compositeNode" presStyleCnt="0">
        <dgm:presLayoutVars>
          <dgm:bulletEnabled val="1"/>
        </dgm:presLayoutVars>
      </dgm:prSet>
      <dgm:spPr/>
    </dgm:pt>
    <dgm:pt modelId="{32A7F2F4-EF76-494B-A349-FC1F5325B1FE}" type="pres">
      <dgm:prSet presAssocID="{FD06BDF1-7317-4280-B34F-872875D26D0D}" presName="bgRect" presStyleLbl="alignNode1" presStyleIdx="3" presStyleCnt="4"/>
      <dgm:spPr/>
    </dgm:pt>
    <dgm:pt modelId="{1A20833A-C255-F94A-BF56-0BDC573C2933}" type="pres">
      <dgm:prSet presAssocID="{F1B264AF-37B1-42E8-8A5E-64F3856F66A0}" presName="sibTransNodeRect" presStyleLbl="alignNode1" presStyleIdx="3" presStyleCnt="4">
        <dgm:presLayoutVars>
          <dgm:chMax val="0"/>
          <dgm:bulletEnabled val="1"/>
        </dgm:presLayoutVars>
      </dgm:prSet>
      <dgm:spPr/>
    </dgm:pt>
    <dgm:pt modelId="{E8D0DCD4-5B2D-9B4D-BABE-865FF1D99EB0}" type="pres">
      <dgm:prSet presAssocID="{FD06BDF1-7317-4280-B34F-872875D26D0D}" presName="nodeRect" presStyleLbl="alignNode1" presStyleIdx="3" presStyleCnt="4">
        <dgm:presLayoutVars>
          <dgm:bulletEnabled val="1"/>
        </dgm:presLayoutVars>
      </dgm:prSet>
      <dgm:spPr/>
    </dgm:pt>
  </dgm:ptLst>
  <dgm:cxnLst>
    <dgm:cxn modelId="{C0F40402-D278-C44B-A61C-BC9A6D9D3427}" type="presOf" srcId="{49593E80-D41C-4EFD-899F-F02DF44E7320}" destId="{241622ED-6400-2C4B-8BA6-B4F44CBC7AD6}" srcOrd="0" destOrd="0" presId="urn:microsoft.com/office/officeart/2016/7/layout/LinearBlockProcessNumbered"/>
    <dgm:cxn modelId="{313BB506-2689-AB41-B433-51A28C4348FF}" type="presOf" srcId="{2CD2C456-0FDB-49A9-8B25-D0AA257C9103}" destId="{4340DD88-9744-A24A-90EC-6AFA572B2B7C}" srcOrd="0" destOrd="0" presId="urn:microsoft.com/office/officeart/2016/7/layout/LinearBlockProcessNumbered"/>
    <dgm:cxn modelId="{AE51BC15-2093-7049-A99B-5659A32C4C6E}" type="presOf" srcId="{CDE7284F-2191-4DB2-9703-71351A597BC8}" destId="{DEE9978E-32F5-6F4F-961A-2548686D4105}" srcOrd="1" destOrd="0" presId="urn:microsoft.com/office/officeart/2016/7/layout/LinearBlockProcessNumbered"/>
    <dgm:cxn modelId="{D62BBC25-70C0-674F-B2F7-6CE4F24719A6}" type="presOf" srcId="{4225F7CA-752A-450D-80FD-4C1928E7BE7A}" destId="{44501306-E673-DF41-AADF-F56CA62EF68F}" srcOrd="0" destOrd="0" presId="urn:microsoft.com/office/officeart/2016/7/layout/LinearBlockProcessNumbered"/>
    <dgm:cxn modelId="{F309222B-0759-5945-B7E0-8B9A6102993E}" type="presOf" srcId="{FD06BDF1-7317-4280-B34F-872875D26D0D}" destId="{E8D0DCD4-5B2D-9B4D-BABE-865FF1D99EB0}" srcOrd="1" destOrd="0" presId="urn:microsoft.com/office/officeart/2016/7/layout/LinearBlockProcessNumbered"/>
    <dgm:cxn modelId="{6D51572C-1507-3D49-84B1-D6A5F2F64669}" type="presOf" srcId="{18DBC6DB-5AE8-4C9D-8DF4-A220B13E80B8}" destId="{1B759FE7-CA77-054D-BBDA-A07C925DE414}" srcOrd="1" destOrd="0" presId="urn:microsoft.com/office/officeart/2016/7/layout/LinearBlockProcessNumbered"/>
    <dgm:cxn modelId="{1D93CB2C-3C78-4B9F-AE97-10CF482C01E5}" srcId="{2CD2C456-0FDB-49A9-8B25-D0AA257C9103}" destId="{FD06BDF1-7317-4280-B34F-872875D26D0D}" srcOrd="3" destOrd="0" parTransId="{72255FE4-05D4-4E97-842A-458B112A6B0D}" sibTransId="{F1B264AF-37B1-42E8-8A5E-64F3856F66A0}"/>
    <dgm:cxn modelId="{1FBF2142-4284-7348-90BB-918FDAEBED10}" type="presOf" srcId="{CDE7284F-2191-4DB2-9703-71351A597BC8}" destId="{2CE9222D-DD11-D542-9676-99EB4A840CA4}" srcOrd="0" destOrd="0" presId="urn:microsoft.com/office/officeart/2016/7/layout/LinearBlockProcessNumbered"/>
    <dgm:cxn modelId="{344A6A5F-EEA8-1D4F-AA56-FF1E4BF62E01}" type="presOf" srcId="{06DF3777-D201-4A47-B4D4-E97F6215104E}" destId="{92D48BAD-7E69-EE4E-82BD-1CA3433DC78F}" srcOrd="0" destOrd="0" presId="urn:microsoft.com/office/officeart/2016/7/layout/LinearBlockProcessNumbered"/>
    <dgm:cxn modelId="{04094B60-2829-E340-B871-11CBD54B4B44}" type="presOf" srcId="{41C93BBB-5E7E-45D4-9E10-F1CE6E1365F7}" destId="{58626337-3782-7A41-A40C-E8E24A8F380E}" srcOrd="0" destOrd="0" presId="urn:microsoft.com/office/officeart/2016/7/layout/LinearBlockProcessNumbered"/>
    <dgm:cxn modelId="{B2CDC07C-EBEC-4877-9569-438FE96A703E}" srcId="{2CD2C456-0FDB-49A9-8B25-D0AA257C9103}" destId="{18DBC6DB-5AE8-4C9D-8DF4-A220B13E80B8}" srcOrd="2" destOrd="0" parTransId="{55F4F086-0FE7-4FE5-B5D3-12A349DE7B5B}" sibTransId="{41C93BBB-5E7E-45D4-9E10-F1CE6E1365F7}"/>
    <dgm:cxn modelId="{81D458B9-05AE-494B-A620-9D9DAD3472A1}" type="presOf" srcId="{18DBC6DB-5AE8-4C9D-8DF4-A220B13E80B8}" destId="{36E48EB5-3591-0F43-83D7-19EEF162F94E}" srcOrd="0" destOrd="0" presId="urn:microsoft.com/office/officeart/2016/7/layout/LinearBlockProcessNumbered"/>
    <dgm:cxn modelId="{106369BC-CC8D-4B91-95DE-3E676F734D8E}" srcId="{2CD2C456-0FDB-49A9-8B25-D0AA257C9103}" destId="{CDE7284F-2191-4DB2-9703-71351A597BC8}" srcOrd="0" destOrd="0" parTransId="{69307D2A-BD81-449A-98CB-B7921FEF7DE4}" sibTransId="{49593E80-D41C-4EFD-899F-F02DF44E7320}"/>
    <dgm:cxn modelId="{005F06C1-0F09-7E49-AB19-0B6FB3A21C72}" type="presOf" srcId="{F1B264AF-37B1-42E8-8A5E-64F3856F66A0}" destId="{1A20833A-C255-F94A-BF56-0BDC573C2933}" srcOrd="0" destOrd="0" presId="urn:microsoft.com/office/officeart/2016/7/layout/LinearBlockProcessNumbered"/>
    <dgm:cxn modelId="{064119CB-86F4-3E4D-B1D6-884B03AABE4B}" type="presOf" srcId="{06DF3777-D201-4A47-B4D4-E97F6215104E}" destId="{55BF71E7-EE88-6C4F-94E9-B117FD2363A9}" srcOrd="1" destOrd="0" presId="urn:microsoft.com/office/officeart/2016/7/layout/LinearBlockProcessNumbered"/>
    <dgm:cxn modelId="{4328A9E2-33D7-4B75-BB88-AE0E8E834389}" srcId="{2CD2C456-0FDB-49A9-8B25-D0AA257C9103}" destId="{06DF3777-D201-4A47-B4D4-E97F6215104E}" srcOrd="1" destOrd="0" parTransId="{B20B68AB-EC78-418E-A437-662A4BDA3A6E}" sibTransId="{4225F7CA-752A-450D-80FD-4C1928E7BE7A}"/>
    <dgm:cxn modelId="{08EBE3EF-B48E-C14D-8078-973763B2DA00}" type="presOf" srcId="{FD06BDF1-7317-4280-B34F-872875D26D0D}" destId="{32A7F2F4-EF76-494B-A349-FC1F5325B1FE}" srcOrd="0" destOrd="0" presId="urn:microsoft.com/office/officeart/2016/7/layout/LinearBlockProcessNumbered"/>
    <dgm:cxn modelId="{F4E5D810-EFDD-AB48-891F-94A77589F344}" type="presParOf" srcId="{4340DD88-9744-A24A-90EC-6AFA572B2B7C}" destId="{AE9229B4-D0D6-4D45-83C1-9AE70BF4FEFB}" srcOrd="0" destOrd="0" presId="urn:microsoft.com/office/officeart/2016/7/layout/LinearBlockProcessNumbered"/>
    <dgm:cxn modelId="{1CF43237-E690-C246-80AB-FF523203FD87}" type="presParOf" srcId="{AE9229B4-D0D6-4D45-83C1-9AE70BF4FEFB}" destId="{2CE9222D-DD11-D542-9676-99EB4A840CA4}" srcOrd="0" destOrd="0" presId="urn:microsoft.com/office/officeart/2016/7/layout/LinearBlockProcessNumbered"/>
    <dgm:cxn modelId="{5746BFA4-DF09-904F-A03D-A0CCDC6841A0}" type="presParOf" srcId="{AE9229B4-D0D6-4D45-83C1-9AE70BF4FEFB}" destId="{241622ED-6400-2C4B-8BA6-B4F44CBC7AD6}" srcOrd="1" destOrd="0" presId="urn:microsoft.com/office/officeart/2016/7/layout/LinearBlockProcessNumbered"/>
    <dgm:cxn modelId="{CED6AC6B-5099-0546-93A7-7625A396267E}" type="presParOf" srcId="{AE9229B4-D0D6-4D45-83C1-9AE70BF4FEFB}" destId="{DEE9978E-32F5-6F4F-961A-2548686D4105}" srcOrd="2" destOrd="0" presId="urn:microsoft.com/office/officeart/2016/7/layout/LinearBlockProcessNumbered"/>
    <dgm:cxn modelId="{C20EDE13-6B3E-9D4F-A188-5FD12CF59E1D}" type="presParOf" srcId="{4340DD88-9744-A24A-90EC-6AFA572B2B7C}" destId="{B5913E10-67BC-F145-808B-59BDD1C7F56D}" srcOrd="1" destOrd="0" presId="urn:microsoft.com/office/officeart/2016/7/layout/LinearBlockProcessNumbered"/>
    <dgm:cxn modelId="{B746EFF1-ECAD-CA4E-A83D-38612BD4AA4B}" type="presParOf" srcId="{4340DD88-9744-A24A-90EC-6AFA572B2B7C}" destId="{6DB0BD30-FB7E-9244-8369-5E035D6716B4}" srcOrd="2" destOrd="0" presId="urn:microsoft.com/office/officeart/2016/7/layout/LinearBlockProcessNumbered"/>
    <dgm:cxn modelId="{D34E509F-55B3-2240-9E99-959F368A52EA}" type="presParOf" srcId="{6DB0BD30-FB7E-9244-8369-5E035D6716B4}" destId="{92D48BAD-7E69-EE4E-82BD-1CA3433DC78F}" srcOrd="0" destOrd="0" presId="urn:microsoft.com/office/officeart/2016/7/layout/LinearBlockProcessNumbered"/>
    <dgm:cxn modelId="{21ACE81F-DDD8-574F-944F-E51D5A0AC0B4}" type="presParOf" srcId="{6DB0BD30-FB7E-9244-8369-5E035D6716B4}" destId="{44501306-E673-DF41-AADF-F56CA62EF68F}" srcOrd="1" destOrd="0" presId="urn:microsoft.com/office/officeart/2016/7/layout/LinearBlockProcessNumbered"/>
    <dgm:cxn modelId="{0504C44B-DD79-4E45-B7EA-655BF52C4D19}" type="presParOf" srcId="{6DB0BD30-FB7E-9244-8369-5E035D6716B4}" destId="{55BF71E7-EE88-6C4F-94E9-B117FD2363A9}" srcOrd="2" destOrd="0" presId="urn:microsoft.com/office/officeart/2016/7/layout/LinearBlockProcessNumbered"/>
    <dgm:cxn modelId="{3458347B-CD2D-B449-93E2-2F0E461F330C}" type="presParOf" srcId="{4340DD88-9744-A24A-90EC-6AFA572B2B7C}" destId="{AF66A78A-321B-6349-A828-FFACC21F1E52}" srcOrd="3" destOrd="0" presId="urn:microsoft.com/office/officeart/2016/7/layout/LinearBlockProcessNumbered"/>
    <dgm:cxn modelId="{3669280A-E715-C04B-9C06-E0F577E6A340}" type="presParOf" srcId="{4340DD88-9744-A24A-90EC-6AFA572B2B7C}" destId="{6579888E-EF42-484B-AAAA-63E1D22B971F}" srcOrd="4" destOrd="0" presId="urn:microsoft.com/office/officeart/2016/7/layout/LinearBlockProcessNumbered"/>
    <dgm:cxn modelId="{65BCCE2E-A57F-BB44-8F27-BDD2DCADBE83}" type="presParOf" srcId="{6579888E-EF42-484B-AAAA-63E1D22B971F}" destId="{36E48EB5-3591-0F43-83D7-19EEF162F94E}" srcOrd="0" destOrd="0" presId="urn:microsoft.com/office/officeart/2016/7/layout/LinearBlockProcessNumbered"/>
    <dgm:cxn modelId="{BD7F30FC-EDF7-CD4C-8602-10EF5D56291A}" type="presParOf" srcId="{6579888E-EF42-484B-AAAA-63E1D22B971F}" destId="{58626337-3782-7A41-A40C-E8E24A8F380E}" srcOrd="1" destOrd="0" presId="urn:microsoft.com/office/officeart/2016/7/layout/LinearBlockProcessNumbered"/>
    <dgm:cxn modelId="{B5ABFDFC-E32B-524F-B62F-C024414913FB}" type="presParOf" srcId="{6579888E-EF42-484B-AAAA-63E1D22B971F}" destId="{1B759FE7-CA77-054D-BBDA-A07C925DE414}" srcOrd="2" destOrd="0" presId="urn:microsoft.com/office/officeart/2016/7/layout/LinearBlockProcessNumbered"/>
    <dgm:cxn modelId="{4E15194A-2ADC-E747-9A79-0FF23E841122}" type="presParOf" srcId="{4340DD88-9744-A24A-90EC-6AFA572B2B7C}" destId="{1EE57EFA-E98D-C741-8148-5C48230CEE3F}" srcOrd="5" destOrd="0" presId="urn:microsoft.com/office/officeart/2016/7/layout/LinearBlockProcessNumbered"/>
    <dgm:cxn modelId="{5AB0BF41-5ECE-AD42-BD0C-EC57FD2A6335}" type="presParOf" srcId="{4340DD88-9744-A24A-90EC-6AFA572B2B7C}" destId="{9914B2E6-E9C7-314A-8853-38E4FF2F9C7A}" srcOrd="6" destOrd="0" presId="urn:microsoft.com/office/officeart/2016/7/layout/LinearBlockProcessNumbered"/>
    <dgm:cxn modelId="{130EE288-0135-274D-A738-80EC389FF9D9}" type="presParOf" srcId="{9914B2E6-E9C7-314A-8853-38E4FF2F9C7A}" destId="{32A7F2F4-EF76-494B-A349-FC1F5325B1FE}" srcOrd="0" destOrd="0" presId="urn:microsoft.com/office/officeart/2016/7/layout/LinearBlockProcessNumbered"/>
    <dgm:cxn modelId="{EE11F293-226F-5047-BAEA-8B161B202EC8}" type="presParOf" srcId="{9914B2E6-E9C7-314A-8853-38E4FF2F9C7A}" destId="{1A20833A-C255-F94A-BF56-0BDC573C2933}" srcOrd="1" destOrd="0" presId="urn:microsoft.com/office/officeart/2016/7/layout/LinearBlockProcessNumbered"/>
    <dgm:cxn modelId="{25191E21-FB77-B748-8C25-C03F0B2B39C7}" type="presParOf" srcId="{9914B2E6-E9C7-314A-8853-38E4FF2F9C7A}" destId="{E8D0DCD4-5B2D-9B4D-BABE-865FF1D99EB0}"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3A0B53-6225-444E-BBEC-4A532777BB52}"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BF5BDB81-518B-49A1-8056-DA272D08E46F}">
      <dgm:prSet/>
      <dgm:spPr/>
      <dgm:t>
        <a:bodyPr/>
        <a:lstStyle/>
        <a:p>
          <a:r>
            <a:rPr lang="en-US"/>
            <a:t>Lots analyzed: Lot01 (863 spaces) and Lot02 (387 spaces)</a:t>
          </a:r>
        </a:p>
      </dgm:t>
    </dgm:pt>
    <dgm:pt modelId="{2D336B11-E2BE-4195-B547-D773493D8F9F}" type="parTrans" cxnId="{F2610065-8A03-416C-9FF7-75F2FF66936D}">
      <dgm:prSet/>
      <dgm:spPr/>
      <dgm:t>
        <a:bodyPr/>
        <a:lstStyle/>
        <a:p>
          <a:endParaRPr lang="en-US"/>
        </a:p>
      </dgm:t>
    </dgm:pt>
    <dgm:pt modelId="{5B032C7C-FCC5-460B-9A45-4C4E0FF1DF42}" type="sibTrans" cxnId="{F2610065-8A03-416C-9FF7-75F2FF66936D}">
      <dgm:prSet/>
      <dgm:spPr/>
      <dgm:t>
        <a:bodyPr/>
        <a:lstStyle/>
        <a:p>
          <a:endParaRPr lang="en-US"/>
        </a:p>
      </dgm:t>
    </dgm:pt>
    <dgm:pt modelId="{4946EBD0-DEA3-4CA2-85F0-D1303A2EB14F}">
      <dgm:prSet/>
      <dgm:spPr/>
      <dgm:t>
        <a:bodyPr/>
        <a:lstStyle/>
        <a:p>
          <a:r>
            <a:rPr lang="en-US"/>
            <a:t>Time period: 11/20/22 – 12/17/22</a:t>
          </a:r>
        </a:p>
      </dgm:t>
    </dgm:pt>
    <dgm:pt modelId="{3838E4D6-D170-48CC-B24C-41C5D53FA068}" type="parTrans" cxnId="{C1044F9F-9297-472D-8C17-5304EF682DE1}">
      <dgm:prSet/>
      <dgm:spPr/>
      <dgm:t>
        <a:bodyPr/>
        <a:lstStyle/>
        <a:p>
          <a:endParaRPr lang="en-US"/>
        </a:p>
      </dgm:t>
    </dgm:pt>
    <dgm:pt modelId="{CFC7CCA2-900A-4CF2-BCDB-97E2CE2D7BD5}" type="sibTrans" cxnId="{C1044F9F-9297-472D-8C17-5304EF682DE1}">
      <dgm:prSet/>
      <dgm:spPr/>
      <dgm:t>
        <a:bodyPr/>
        <a:lstStyle/>
        <a:p>
          <a:endParaRPr lang="en-US"/>
        </a:p>
      </dgm:t>
    </dgm:pt>
    <dgm:pt modelId="{40BA19FD-7380-4F1D-8059-8966165912F8}">
      <dgm:prSet/>
      <dgm:spPr/>
      <dgm:t>
        <a:bodyPr/>
        <a:lstStyle/>
        <a:p>
          <a:r>
            <a:rPr lang="en-US"/>
            <a:t>Granularity: Readings every ~30 minutes from 8:00 to 16:30</a:t>
          </a:r>
        </a:p>
      </dgm:t>
    </dgm:pt>
    <dgm:pt modelId="{84965EA6-4DFB-431C-98B0-5A5433CA369D}" type="parTrans" cxnId="{EDA78B32-B74F-4B56-B3A1-E862FE38A562}">
      <dgm:prSet/>
      <dgm:spPr/>
      <dgm:t>
        <a:bodyPr/>
        <a:lstStyle/>
        <a:p>
          <a:endParaRPr lang="en-US"/>
        </a:p>
      </dgm:t>
    </dgm:pt>
    <dgm:pt modelId="{E5CB69A9-D7A8-471C-A284-9267D8316CB8}" type="sibTrans" cxnId="{EDA78B32-B74F-4B56-B3A1-E862FE38A562}">
      <dgm:prSet/>
      <dgm:spPr/>
      <dgm:t>
        <a:bodyPr/>
        <a:lstStyle/>
        <a:p>
          <a:endParaRPr lang="en-US"/>
        </a:p>
      </dgm:t>
    </dgm:pt>
    <dgm:pt modelId="{BB3034EF-3024-43E1-95B4-F9CE5A5FD10E}">
      <dgm:prSet/>
      <dgm:spPr/>
      <dgm:t>
        <a:bodyPr/>
        <a:lstStyle/>
        <a:p>
          <a:r>
            <a:rPr lang="en-US"/>
            <a:t>Fields: LotCode, LotCapacity, LotOccupancy, TimeStamp, Day, OccupancyRate</a:t>
          </a:r>
        </a:p>
      </dgm:t>
    </dgm:pt>
    <dgm:pt modelId="{A6FA0E7E-58F9-47F0-B3CC-7D581A0669D0}" type="parTrans" cxnId="{3FB678B1-2569-4D2B-80A7-C71FBBF79735}">
      <dgm:prSet/>
      <dgm:spPr/>
      <dgm:t>
        <a:bodyPr/>
        <a:lstStyle/>
        <a:p>
          <a:endParaRPr lang="en-US"/>
        </a:p>
      </dgm:t>
    </dgm:pt>
    <dgm:pt modelId="{F5A8A09E-10C0-41F5-A1DC-6A6EC612EFE8}" type="sibTrans" cxnId="{3FB678B1-2569-4D2B-80A7-C71FBBF79735}">
      <dgm:prSet/>
      <dgm:spPr/>
      <dgm:t>
        <a:bodyPr/>
        <a:lstStyle/>
        <a:p>
          <a:endParaRPr lang="en-US"/>
        </a:p>
      </dgm:t>
    </dgm:pt>
    <dgm:pt modelId="{220E8081-92A8-0B4E-80A5-7894EB22C8CE}" type="pres">
      <dgm:prSet presAssocID="{673A0B53-6225-444E-BBEC-4A532777BB52}" presName="Name0" presStyleCnt="0">
        <dgm:presLayoutVars>
          <dgm:dir/>
          <dgm:animLvl val="lvl"/>
          <dgm:resizeHandles val="exact"/>
        </dgm:presLayoutVars>
      </dgm:prSet>
      <dgm:spPr/>
    </dgm:pt>
    <dgm:pt modelId="{0D7932CA-6F61-4042-B9CD-F46EC032A74C}" type="pres">
      <dgm:prSet presAssocID="{BF5BDB81-518B-49A1-8056-DA272D08E46F}" presName="linNode" presStyleCnt="0"/>
      <dgm:spPr/>
    </dgm:pt>
    <dgm:pt modelId="{3BBEAC4D-BCFA-D345-85E8-04040AFCE8D6}" type="pres">
      <dgm:prSet presAssocID="{BF5BDB81-518B-49A1-8056-DA272D08E46F}" presName="parentText" presStyleLbl="node1" presStyleIdx="0" presStyleCnt="4">
        <dgm:presLayoutVars>
          <dgm:chMax val="1"/>
          <dgm:bulletEnabled val="1"/>
        </dgm:presLayoutVars>
      </dgm:prSet>
      <dgm:spPr/>
    </dgm:pt>
    <dgm:pt modelId="{0C10589B-FFA6-B549-A420-91501E09C7F1}" type="pres">
      <dgm:prSet presAssocID="{5B032C7C-FCC5-460B-9A45-4C4E0FF1DF42}" presName="sp" presStyleCnt="0"/>
      <dgm:spPr/>
    </dgm:pt>
    <dgm:pt modelId="{E3C8249E-ED09-1E49-9D18-C302D92CBE81}" type="pres">
      <dgm:prSet presAssocID="{4946EBD0-DEA3-4CA2-85F0-D1303A2EB14F}" presName="linNode" presStyleCnt="0"/>
      <dgm:spPr/>
    </dgm:pt>
    <dgm:pt modelId="{BD859946-E37A-984B-930C-F8D1919B03E7}" type="pres">
      <dgm:prSet presAssocID="{4946EBD0-DEA3-4CA2-85F0-D1303A2EB14F}" presName="parentText" presStyleLbl="node1" presStyleIdx="1" presStyleCnt="4">
        <dgm:presLayoutVars>
          <dgm:chMax val="1"/>
          <dgm:bulletEnabled val="1"/>
        </dgm:presLayoutVars>
      </dgm:prSet>
      <dgm:spPr/>
    </dgm:pt>
    <dgm:pt modelId="{00226070-AB59-6F47-BCE7-2472AFD238DB}" type="pres">
      <dgm:prSet presAssocID="{CFC7CCA2-900A-4CF2-BCDB-97E2CE2D7BD5}" presName="sp" presStyleCnt="0"/>
      <dgm:spPr/>
    </dgm:pt>
    <dgm:pt modelId="{D015A4B9-D66B-BA49-BD32-55402ED741C1}" type="pres">
      <dgm:prSet presAssocID="{40BA19FD-7380-4F1D-8059-8966165912F8}" presName="linNode" presStyleCnt="0"/>
      <dgm:spPr/>
    </dgm:pt>
    <dgm:pt modelId="{F19004D6-B09A-F349-BAF2-0A4C6ECD7996}" type="pres">
      <dgm:prSet presAssocID="{40BA19FD-7380-4F1D-8059-8966165912F8}" presName="parentText" presStyleLbl="node1" presStyleIdx="2" presStyleCnt="4">
        <dgm:presLayoutVars>
          <dgm:chMax val="1"/>
          <dgm:bulletEnabled val="1"/>
        </dgm:presLayoutVars>
      </dgm:prSet>
      <dgm:spPr/>
    </dgm:pt>
    <dgm:pt modelId="{47F5F377-C9B2-3942-B6E0-F0672F10B3A9}" type="pres">
      <dgm:prSet presAssocID="{E5CB69A9-D7A8-471C-A284-9267D8316CB8}" presName="sp" presStyleCnt="0"/>
      <dgm:spPr/>
    </dgm:pt>
    <dgm:pt modelId="{98BB2F52-F482-8244-820A-A2468A81CD90}" type="pres">
      <dgm:prSet presAssocID="{BB3034EF-3024-43E1-95B4-F9CE5A5FD10E}" presName="linNode" presStyleCnt="0"/>
      <dgm:spPr/>
    </dgm:pt>
    <dgm:pt modelId="{6C7743D2-B884-7E40-B62F-4DB698919FF5}" type="pres">
      <dgm:prSet presAssocID="{BB3034EF-3024-43E1-95B4-F9CE5A5FD10E}" presName="parentText" presStyleLbl="node1" presStyleIdx="3" presStyleCnt="4">
        <dgm:presLayoutVars>
          <dgm:chMax val="1"/>
          <dgm:bulletEnabled val="1"/>
        </dgm:presLayoutVars>
      </dgm:prSet>
      <dgm:spPr/>
    </dgm:pt>
  </dgm:ptLst>
  <dgm:cxnLst>
    <dgm:cxn modelId="{F07B9D1B-38FA-544E-99B7-D5B66090D36F}" type="presOf" srcId="{BB3034EF-3024-43E1-95B4-F9CE5A5FD10E}" destId="{6C7743D2-B884-7E40-B62F-4DB698919FF5}" srcOrd="0" destOrd="0" presId="urn:microsoft.com/office/officeart/2005/8/layout/vList5"/>
    <dgm:cxn modelId="{9373CD23-4AAC-6142-9791-470C53434394}" type="presOf" srcId="{673A0B53-6225-444E-BBEC-4A532777BB52}" destId="{220E8081-92A8-0B4E-80A5-7894EB22C8CE}" srcOrd="0" destOrd="0" presId="urn:microsoft.com/office/officeart/2005/8/layout/vList5"/>
    <dgm:cxn modelId="{EDA78B32-B74F-4B56-B3A1-E862FE38A562}" srcId="{673A0B53-6225-444E-BBEC-4A532777BB52}" destId="{40BA19FD-7380-4F1D-8059-8966165912F8}" srcOrd="2" destOrd="0" parTransId="{84965EA6-4DFB-431C-98B0-5A5433CA369D}" sibTransId="{E5CB69A9-D7A8-471C-A284-9267D8316CB8}"/>
    <dgm:cxn modelId="{F2610065-8A03-416C-9FF7-75F2FF66936D}" srcId="{673A0B53-6225-444E-BBEC-4A532777BB52}" destId="{BF5BDB81-518B-49A1-8056-DA272D08E46F}" srcOrd="0" destOrd="0" parTransId="{2D336B11-E2BE-4195-B547-D773493D8F9F}" sibTransId="{5B032C7C-FCC5-460B-9A45-4C4E0FF1DF42}"/>
    <dgm:cxn modelId="{13F37079-0806-ED42-A927-28D28EA33542}" type="presOf" srcId="{4946EBD0-DEA3-4CA2-85F0-D1303A2EB14F}" destId="{BD859946-E37A-984B-930C-F8D1919B03E7}" srcOrd="0" destOrd="0" presId="urn:microsoft.com/office/officeart/2005/8/layout/vList5"/>
    <dgm:cxn modelId="{C1044F9F-9297-472D-8C17-5304EF682DE1}" srcId="{673A0B53-6225-444E-BBEC-4A532777BB52}" destId="{4946EBD0-DEA3-4CA2-85F0-D1303A2EB14F}" srcOrd="1" destOrd="0" parTransId="{3838E4D6-D170-48CC-B24C-41C5D53FA068}" sibTransId="{CFC7CCA2-900A-4CF2-BCDB-97E2CE2D7BD5}"/>
    <dgm:cxn modelId="{3FB678B1-2569-4D2B-80A7-C71FBBF79735}" srcId="{673A0B53-6225-444E-BBEC-4A532777BB52}" destId="{BB3034EF-3024-43E1-95B4-F9CE5A5FD10E}" srcOrd="3" destOrd="0" parTransId="{A6FA0E7E-58F9-47F0-B3CC-7D581A0669D0}" sibTransId="{F5A8A09E-10C0-41F5-A1DC-6A6EC612EFE8}"/>
    <dgm:cxn modelId="{DACD20E5-3EB8-534B-881C-D44025DE3934}" type="presOf" srcId="{40BA19FD-7380-4F1D-8059-8966165912F8}" destId="{F19004D6-B09A-F349-BAF2-0A4C6ECD7996}" srcOrd="0" destOrd="0" presId="urn:microsoft.com/office/officeart/2005/8/layout/vList5"/>
    <dgm:cxn modelId="{DFA018EE-4507-2B4F-A536-A17613D65C36}" type="presOf" srcId="{BF5BDB81-518B-49A1-8056-DA272D08E46F}" destId="{3BBEAC4D-BCFA-D345-85E8-04040AFCE8D6}" srcOrd="0" destOrd="0" presId="urn:microsoft.com/office/officeart/2005/8/layout/vList5"/>
    <dgm:cxn modelId="{2450F08C-6E78-1044-8F63-A19EE5622605}" type="presParOf" srcId="{220E8081-92A8-0B4E-80A5-7894EB22C8CE}" destId="{0D7932CA-6F61-4042-B9CD-F46EC032A74C}" srcOrd="0" destOrd="0" presId="urn:microsoft.com/office/officeart/2005/8/layout/vList5"/>
    <dgm:cxn modelId="{C20867CD-16B9-4645-9424-C3F1636F074D}" type="presParOf" srcId="{0D7932CA-6F61-4042-B9CD-F46EC032A74C}" destId="{3BBEAC4D-BCFA-D345-85E8-04040AFCE8D6}" srcOrd="0" destOrd="0" presId="urn:microsoft.com/office/officeart/2005/8/layout/vList5"/>
    <dgm:cxn modelId="{F5A5BD88-5B56-774F-8933-6F39AED1B3D4}" type="presParOf" srcId="{220E8081-92A8-0B4E-80A5-7894EB22C8CE}" destId="{0C10589B-FFA6-B549-A420-91501E09C7F1}" srcOrd="1" destOrd="0" presId="urn:microsoft.com/office/officeart/2005/8/layout/vList5"/>
    <dgm:cxn modelId="{11C3AEDD-83B1-D643-9823-697730D4B1B5}" type="presParOf" srcId="{220E8081-92A8-0B4E-80A5-7894EB22C8CE}" destId="{E3C8249E-ED09-1E49-9D18-C302D92CBE81}" srcOrd="2" destOrd="0" presId="urn:microsoft.com/office/officeart/2005/8/layout/vList5"/>
    <dgm:cxn modelId="{58ACA963-DAF0-BA40-8D5F-9B72A1AEA85D}" type="presParOf" srcId="{E3C8249E-ED09-1E49-9D18-C302D92CBE81}" destId="{BD859946-E37A-984B-930C-F8D1919B03E7}" srcOrd="0" destOrd="0" presId="urn:microsoft.com/office/officeart/2005/8/layout/vList5"/>
    <dgm:cxn modelId="{08D01B4B-8F33-3447-AAEA-A0A74E04BD37}" type="presParOf" srcId="{220E8081-92A8-0B4E-80A5-7894EB22C8CE}" destId="{00226070-AB59-6F47-BCE7-2472AFD238DB}" srcOrd="3" destOrd="0" presId="urn:microsoft.com/office/officeart/2005/8/layout/vList5"/>
    <dgm:cxn modelId="{24CBB94A-A685-2545-8E5E-18B2C50E48A1}" type="presParOf" srcId="{220E8081-92A8-0B4E-80A5-7894EB22C8CE}" destId="{D015A4B9-D66B-BA49-BD32-55402ED741C1}" srcOrd="4" destOrd="0" presId="urn:microsoft.com/office/officeart/2005/8/layout/vList5"/>
    <dgm:cxn modelId="{94751346-C7F8-C146-A4AC-40572C1020CE}" type="presParOf" srcId="{D015A4B9-D66B-BA49-BD32-55402ED741C1}" destId="{F19004D6-B09A-F349-BAF2-0A4C6ECD7996}" srcOrd="0" destOrd="0" presId="urn:microsoft.com/office/officeart/2005/8/layout/vList5"/>
    <dgm:cxn modelId="{D0844D06-B2CA-8346-9014-C6A10F5F64D6}" type="presParOf" srcId="{220E8081-92A8-0B4E-80A5-7894EB22C8CE}" destId="{47F5F377-C9B2-3942-B6E0-F0672F10B3A9}" srcOrd="5" destOrd="0" presId="urn:microsoft.com/office/officeart/2005/8/layout/vList5"/>
    <dgm:cxn modelId="{FCC017BE-FE5B-5D43-B185-ABD25C4C3D72}" type="presParOf" srcId="{220E8081-92A8-0B4E-80A5-7894EB22C8CE}" destId="{98BB2F52-F482-8244-820A-A2468A81CD90}" srcOrd="6" destOrd="0" presId="urn:microsoft.com/office/officeart/2005/8/layout/vList5"/>
    <dgm:cxn modelId="{A98B6002-864E-8344-A33E-53CA572C523C}" type="presParOf" srcId="{98BB2F52-F482-8244-820A-A2468A81CD90}" destId="{6C7743D2-B884-7E40-B62F-4DB698919FF5}"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ECC4074-86DA-4536-9E57-9DEEE4860863}"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CAD9122-E481-40A5-B59A-53817455BC1B}">
      <dgm:prSet/>
      <dgm:spPr/>
      <dgm:t>
        <a:bodyPr/>
        <a:lstStyle/>
        <a:p>
          <a:pPr>
            <a:lnSpc>
              <a:spcPct val="100000"/>
            </a:lnSpc>
          </a:pPr>
          <a:r>
            <a:rPr lang="en-US"/>
            <a:t>Peak congestion observed between 10:00–14:30 across both lots.</a:t>
          </a:r>
        </a:p>
      </dgm:t>
    </dgm:pt>
    <dgm:pt modelId="{1EE5FAF1-994E-4C00-8128-84AF4517C523}" type="parTrans" cxnId="{49B46F9F-8212-4FDA-A8B2-C7BB6E67F22B}">
      <dgm:prSet/>
      <dgm:spPr/>
      <dgm:t>
        <a:bodyPr/>
        <a:lstStyle/>
        <a:p>
          <a:endParaRPr lang="en-US"/>
        </a:p>
      </dgm:t>
    </dgm:pt>
    <dgm:pt modelId="{11ABFAFD-2FC2-4C3A-BA12-5D694BA40858}" type="sibTrans" cxnId="{49B46F9F-8212-4FDA-A8B2-C7BB6E67F22B}">
      <dgm:prSet/>
      <dgm:spPr/>
      <dgm:t>
        <a:bodyPr/>
        <a:lstStyle/>
        <a:p>
          <a:pPr>
            <a:lnSpc>
              <a:spcPct val="100000"/>
            </a:lnSpc>
          </a:pPr>
          <a:endParaRPr lang="en-US"/>
        </a:p>
      </dgm:t>
    </dgm:pt>
    <dgm:pt modelId="{5F03796E-F2FA-424E-B6DA-3412D314D0AC}">
      <dgm:prSet/>
      <dgm:spPr/>
      <dgm:t>
        <a:bodyPr/>
        <a:lstStyle/>
        <a:p>
          <a:pPr>
            <a:lnSpc>
              <a:spcPct val="100000"/>
            </a:lnSpc>
          </a:pPr>
          <a:r>
            <a:rPr lang="en-US"/>
            <a:t>Lot02 consistently reaches 100% occupancy, indicating severe capacity constraints.</a:t>
          </a:r>
        </a:p>
      </dgm:t>
    </dgm:pt>
    <dgm:pt modelId="{F5CD611C-F16E-4F90-8B03-0D109A7C4978}" type="parTrans" cxnId="{5928653D-2570-4D22-9250-9343E3D83EBA}">
      <dgm:prSet/>
      <dgm:spPr/>
      <dgm:t>
        <a:bodyPr/>
        <a:lstStyle/>
        <a:p>
          <a:endParaRPr lang="en-US"/>
        </a:p>
      </dgm:t>
    </dgm:pt>
    <dgm:pt modelId="{F93E20A5-B81A-46BA-8564-59E6224CC786}" type="sibTrans" cxnId="{5928653D-2570-4D22-9250-9343E3D83EBA}">
      <dgm:prSet/>
      <dgm:spPr/>
      <dgm:t>
        <a:bodyPr/>
        <a:lstStyle/>
        <a:p>
          <a:pPr>
            <a:lnSpc>
              <a:spcPct val="100000"/>
            </a:lnSpc>
          </a:pPr>
          <a:endParaRPr lang="en-US"/>
        </a:p>
      </dgm:t>
    </dgm:pt>
    <dgm:pt modelId="{16195577-3AB4-4BBD-BD7F-7EFEC6E01482}">
      <dgm:prSet/>
      <dgm:spPr/>
      <dgm:t>
        <a:bodyPr/>
        <a:lstStyle/>
        <a:p>
          <a:pPr>
            <a:lnSpc>
              <a:spcPct val="100000"/>
            </a:lnSpc>
          </a:pPr>
          <a:r>
            <a:rPr lang="en-US"/>
            <a:t>Lot01 also operates above 90% for extended periods, creating structural under-supply.</a:t>
          </a:r>
        </a:p>
      </dgm:t>
    </dgm:pt>
    <dgm:pt modelId="{68DF55F7-1FBE-4B3E-BED2-C0234DB6F362}" type="parTrans" cxnId="{E8D057A9-9A48-40AE-A845-6EB9AB824205}">
      <dgm:prSet/>
      <dgm:spPr/>
      <dgm:t>
        <a:bodyPr/>
        <a:lstStyle/>
        <a:p>
          <a:endParaRPr lang="en-US"/>
        </a:p>
      </dgm:t>
    </dgm:pt>
    <dgm:pt modelId="{5829C5F5-DF1D-4243-AA2A-CA2C404D6CFD}" type="sibTrans" cxnId="{E8D057A9-9A48-40AE-A845-6EB9AB824205}">
      <dgm:prSet/>
      <dgm:spPr/>
      <dgm:t>
        <a:bodyPr/>
        <a:lstStyle/>
        <a:p>
          <a:pPr>
            <a:lnSpc>
              <a:spcPct val="100000"/>
            </a:lnSpc>
          </a:pPr>
          <a:endParaRPr lang="en-US"/>
        </a:p>
      </dgm:t>
    </dgm:pt>
    <dgm:pt modelId="{F82AB966-757B-4AC0-9513-3FD4630A2C75}">
      <dgm:prSet/>
      <dgm:spPr/>
      <dgm:t>
        <a:bodyPr/>
        <a:lstStyle/>
        <a:p>
          <a:pPr>
            <a:lnSpc>
              <a:spcPct val="100000"/>
            </a:lnSpc>
          </a:pPr>
          <a:r>
            <a:rPr lang="en-US"/>
            <a:t>Strategic priorities: Implement demand management, remote parking, and long-term expansion planning.</a:t>
          </a:r>
        </a:p>
      </dgm:t>
    </dgm:pt>
    <dgm:pt modelId="{F8AEEB93-2E9B-46A3-B10C-72DDCE50CAAD}" type="parTrans" cxnId="{3B08190E-0757-4037-BBB3-E69510416136}">
      <dgm:prSet/>
      <dgm:spPr/>
      <dgm:t>
        <a:bodyPr/>
        <a:lstStyle/>
        <a:p>
          <a:endParaRPr lang="en-US"/>
        </a:p>
      </dgm:t>
    </dgm:pt>
    <dgm:pt modelId="{D9FC2BB1-592F-4F42-8BBB-03509691D52C}" type="sibTrans" cxnId="{3B08190E-0757-4037-BBB3-E69510416136}">
      <dgm:prSet/>
      <dgm:spPr/>
      <dgm:t>
        <a:bodyPr/>
        <a:lstStyle/>
        <a:p>
          <a:endParaRPr lang="en-US"/>
        </a:p>
      </dgm:t>
    </dgm:pt>
    <dgm:pt modelId="{4959FF12-7C1A-472B-B2CE-E6A10C5C91D6}" type="pres">
      <dgm:prSet presAssocID="{6ECC4074-86DA-4536-9E57-9DEEE4860863}" presName="root" presStyleCnt="0">
        <dgm:presLayoutVars>
          <dgm:dir/>
          <dgm:resizeHandles val="exact"/>
        </dgm:presLayoutVars>
      </dgm:prSet>
      <dgm:spPr/>
    </dgm:pt>
    <dgm:pt modelId="{AD99B5F0-56C2-40FF-AB41-700967DA8DD2}" type="pres">
      <dgm:prSet presAssocID="{6ECC4074-86DA-4536-9E57-9DEEE4860863}" presName="container" presStyleCnt="0">
        <dgm:presLayoutVars>
          <dgm:dir/>
          <dgm:resizeHandles val="exact"/>
        </dgm:presLayoutVars>
      </dgm:prSet>
      <dgm:spPr/>
    </dgm:pt>
    <dgm:pt modelId="{926A1B69-2037-458E-8A38-7B7DE7F03AFA}" type="pres">
      <dgm:prSet presAssocID="{4CAD9122-E481-40A5-B59A-53817455BC1B}" presName="compNode" presStyleCnt="0"/>
      <dgm:spPr/>
    </dgm:pt>
    <dgm:pt modelId="{A2AEC886-FF39-421B-98C3-60E8339FD82D}" type="pres">
      <dgm:prSet presAssocID="{4CAD9122-E481-40A5-B59A-53817455BC1B}" presName="iconBgRect" presStyleLbl="bgShp" presStyleIdx="0" presStyleCnt="4"/>
      <dgm:spPr/>
    </dgm:pt>
    <dgm:pt modelId="{B27DDDBD-065F-4773-B039-F5BDAF659270}" type="pres">
      <dgm:prSet presAssocID="{4CAD9122-E481-40A5-B59A-53817455BC1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eed Bump"/>
        </a:ext>
      </dgm:extLst>
    </dgm:pt>
    <dgm:pt modelId="{EFF90A9A-AC08-4B6F-A6E5-512DD1CA09A2}" type="pres">
      <dgm:prSet presAssocID="{4CAD9122-E481-40A5-B59A-53817455BC1B}" presName="spaceRect" presStyleCnt="0"/>
      <dgm:spPr/>
    </dgm:pt>
    <dgm:pt modelId="{BF1ED026-B1C6-49B1-BA40-7E2022E024A2}" type="pres">
      <dgm:prSet presAssocID="{4CAD9122-E481-40A5-B59A-53817455BC1B}" presName="textRect" presStyleLbl="revTx" presStyleIdx="0" presStyleCnt="4">
        <dgm:presLayoutVars>
          <dgm:chMax val="1"/>
          <dgm:chPref val="1"/>
        </dgm:presLayoutVars>
      </dgm:prSet>
      <dgm:spPr/>
    </dgm:pt>
    <dgm:pt modelId="{4E60238E-3C26-4FAC-BCCA-35B3644C7200}" type="pres">
      <dgm:prSet presAssocID="{11ABFAFD-2FC2-4C3A-BA12-5D694BA40858}" presName="sibTrans" presStyleLbl="sibTrans2D1" presStyleIdx="0" presStyleCnt="0"/>
      <dgm:spPr/>
    </dgm:pt>
    <dgm:pt modelId="{25445053-C1BA-4560-8A81-F695D6BBC2D0}" type="pres">
      <dgm:prSet presAssocID="{5F03796E-F2FA-424E-B6DA-3412D314D0AC}" presName="compNode" presStyleCnt="0"/>
      <dgm:spPr/>
    </dgm:pt>
    <dgm:pt modelId="{7A8115EA-B1B6-4569-A44B-4075BF29F242}" type="pres">
      <dgm:prSet presAssocID="{5F03796E-F2FA-424E-B6DA-3412D314D0AC}" presName="iconBgRect" presStyleLbl="bgShp" presStyleIdx="1" presStyleCnt="4"/>
      <dgm:spPr/>
    </dgm:pt>
    <dgm:pt modelId="{9E9FD4EF-1F21-47D7-8A03-7D8796855238}" type="pres">
      <dgm:prSet presAssocID="{5F03796E-F2FA-424E-B6DA-3412D314D0A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ning"/>
        </a:ext>
      </dgm:extLst>
    </dgm:pt>
    <dgm:pt modelId="{A0EDFEC4-B281-4AB8-BAB9-222D19E7DA98}" type="pres">
      <dgm:prSet presAssocID="{5F03796E-F2FA-424E-B6DA-3412D314D0AC}" presName="spaceRect" presStyleCnt="0"/>
      <dgm:spPr/>
    </dgm:pt>
    <dgm:pt modelId="{9CB0B119-2103-4F26-A4B7-A126AC816739}" type="pres">
      <dgm:prSet presAssocID="{5F03796E-F2FA-424E-B6DA-3412D314D0AC}" presName="textRect" presStyleLbl="revTx" presStyleIdx="1" presStyleCnt="4">
        <dgm:presLayoutVars>
          <dgm:chMax val="1"/>
          <dgm:chPref val="1"/>
        </dgm:presLayoutVars>
      </dgm:prSet>
      <dgm:spPr/>
    </dgm:pt>
    <dgm:pt modelId="{FDD1DA9B-BBE6-4D6D-A30E-51643751E300}" type="pres">
      <dgm:prSet presAssocID="{F93E20A5-B81A-46BA-8564-59E6224CC786}" presName="sibTrans" presStyleLbl="sibTrans2D1" presStyleIdx="0" presStyleCnt="0"/>
      <dgm:spPr/>
    </dgm:pt>
    <dgm:pt modelId="{BC001501-3FC7-4E11-B23D-816D799216F9}" type="pres">
      <dgm:prSet presAssocID="{16195577-3AB4-4BBD-BD7F-7EFEC6E01482}" presName="compNode" presStyleCnt="0"/>
      <dgm:spPr/>
    </dgm:pt>
    <dgm:pt modelId="{20774582-43E3-49EC-9692-FE6121A13D9A}" type="pres">
      <dgm:prSet presAssocID="{16195577-3AB4-4BBD-BD7F-7EFEC6E01482}" presName="iconBgRect" presStyleLbl="bgShp" presStyleIdx="2" presStyleCnt="4"/>
      <dgm:spPr/>
    </dgm:pt>
    <dgm:pt modelId="{36D765B9-109D-4200-93F1-890FC16C59BC}" type="pres">
      <dgm:prSet presAssocID="{16195577-3AB4-4BBD-BD7F-7EFEC6E014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ading"/>
        </a:ext>
      </dgm:extLst>
    </dgm:pt>
    <dgm:pt modelId="{53DF4310-C293-41D2-8542-887E0581E86F}" type="pres">
      <dgm:prSet presAssocID="{16195577-3AB4-4BBD-BD7F-7EFEC6E01482}" presName="spaceRect" presStyleCnt="0"/>
      <dgm:spPr/>
    </dgm:pt>
    <dgm:pt modelId="{83305738-3702-4C22-8371-8A41098516B8}" type="pres">
      <dgm:prSet presAssocID="{16195577-3AB4-4BBD-BD7F-7EFEC6E01482}" presName="textRect" presStyleLbl="revTx" presStyleIdx="2" presStyleCnt="4">
        <dgm:presLayoutVars>
          <dgm:chMax val="1"/>
          <dgm:chPref val="1"/>
        </dgm:presLayoutVars>
      </dgm:prSet>
      <dgm:spPr/>
    </dgm:pt>
    <dgm:pt modelId="{5FFDEFA9-73D3-4571-84F0-DF17F7CDBC03}" type="pres">
      <dgm:prSet presAssocID="{5829C5F5-DF1D-4243-AA2A-CA2C404D6CFD}" presName="sibTrans" presStyleLbl="sibTrans2D1" presStyleIdx="0" presStyleCnt="0"/>
      <dgm:spPr/>
    </dgm:pt>
    <dgm:pt modelId="{EF4E904E-3A07-4C38-AA23-6B378BE5A3F0}" type="pres">
      <dgm:prSet presAssocID="{F82AB966-757B-4AC0-9513-3FD4630A2C75}" presName="compNode" presStyleCnt="0"/>
      <dgm:spPr/>
    </dgm:pt>
    <dgm:pt modelId="{8391E16E-0F7B-42CE-99FC-2B4B297A0CC3}" type="pres">
      <dgm:prSet presAssocID="{F82AB966-757B-4AC0-9513-3FD4630A2C75}" presName="iconBgRect" presStyleLbl="bgShp" presStyleIdx="3" presStyleCnt="4"/>
      <dgm:spPr/>
    </dgm:pt>
    <dgm:pt modelId="{223F5470-59F8-4F8E-8BBC-81530A3A8A2A}" type="pres">
      <dgm:prSet presAssocID="{F82AB966-757B-4AC0-9513-3FD4630A2C7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Computing"/>
        </a:ext>
      </dgm:extLst>
    </dgm:pt>
    <dgm:pt modelId="{C33B4C0F-F412-4049-A4E1-3050C7C0CAFA}" type="pres">
      <dgm:prSet presAssocID="{F82AB966-757B-4AC0-9513-3FD4630A2C75}" presName="spaceRect" presStyleCnt="0"/>
      <dgm:spPr/>
    </dgm:pt>
    <dgm:pt modelId="{6EFDAF45-379D-47F2-BC83-DA0847B89216}" type="pres">
      <dgm:prSet presAssocID="{F82AB966-757B-4AC0-9513-3FD4630A2C75}" presName="textRect" presStyleLbl="revTx" presStyleIdx="3" presStyleCnt="4">
        <dgm:presLayoutVars>
          <dgm:chMax val="1"/>
          <dgm:chPref val="1"/>
        </dgm:presLayoutVars>
      </dgm:prSet>
      <dgm:spPr/>
    </dgm:pt>
  </dgm:ptLst>
  <dgm:cxnLst>
    <dgm:cxn modelId="{3B08190E-0757-4037-BBB3-E69510416136}" srcId="{6ECC4074-86DA-4536-9E57-9DEEE4860863}" destId="{F82AB966-757B-4AC0-9513-3FD4630A2C75}" srcOrd="3" destOrd="0" parTransId="{F8AEEB93-2E9B-46A3-B10C-72DDCE50CAAD}" sibTransId="{D9FC2BB1-592F-4F42-8BBB-03509691D52C}"/>
    <dgm:cxn modelId="{1A76441E-BEA5-1C4D-99C1-0D5FB8997D27}" type="presOf" srcId="{11ABFAFD-2FC2-4C3A-BA12-5D694BA40858}" destId="{4E60238E-3C26-4FAC-BCCA-35B3644C7200}" srcOrd="0" destOrd="0" presId="urn:microsoft.com/office/officeart/2018/2/layout/IconCircleList"/>
    <dgm:cxn modelId="{4E01B734-EA76-C445-B0C2-B8EE29251313}" type="presOf" srcId="{4CAD9122-E481-40A5-B59A-53817455BC1B}" destId="{BF1ED026-B1C6-49B1-BA40-7E2022E024A2}" srcOrd="0" destOrd="0" presId="urn:microsoft.com/office/officeart/2018/2/layout/IconCircleList"/>
    <dgm:cxn modelId="{5928653D-2570-4D22-9250-9343E3D83EBA}" srcId="{6ECC4074-86DA-4536-9E57-9DEEE4860863}" destId="{5F03796E-F2FA-424E-B6DA-3412D314D0AC}" srcOrd="1" destOrd="0" parTransId="{F5CD611C-F16E-4F90-8B03-0D109A7C4978}" sibTransId="{F93E20A5-B81A-46BA-8564-59E6224CC786}"/>
    <dgm:cxn modelId="{AD4FE966-B099-B640-8BC1-E190CE064087}" type="presOf" srcId="{F82AB966-757B-4AC0-9513-3FD4630A2C75}" destId="{6EFDAF45-379D-47F2-BC83-DA0847B89216}" srcOrd="0" destOrd="0" presId="urn:microsoft.com/office/officeart/2018/2/layout/IconCircleList"/>
    <dgm:cxn modelId="{21477294-1F93-AA4D-AF5F-3F4969AA506D}" type="presOf" srcId="{5F03796E-F2FA-424E-B6DA-3412D314D0AC}" destId="{9CB0B119-2103-4F26-A4B7-A126AC816739}" srcOrd="0" destOrd="0" presId="urn:microsoft.com/office/officeart/2018/2/layout/IconCircleList"/>
    <dgm:cxn modelId="{49B46F9F-8212-4FDA-A8B2-C7BB6E67F22B}" srcId="{6ECC4074-86DA-4536-9E57-9DEEE4860863}" destId="{4CAD9122-E481-40A5-B59A-53817455BC1B}" srcOrd="0" destOrd="0" parTransId="{1EE5FAF1-994E-4C00-8128-84AF4517C523}" sibTransId="{11ABFAFD-2FC2-4C3A-BA12-5D694BA40858}"/>
    <dgm:cxn modelId="{E8D057A9-9A48-40AE-A845-6EB9AB824205}" srcId="{6ECC4074-86DA-4536-9E57-9DEEE4860863}" destId="{16195577-3AB4-4BBD-BD7F-7EFEC6E01482}" srcOrd="2" destOrd="0" parTransId="{68DF55F7-1FBE-4B3E-BED2-C0234DB6F362}" sibTransId="{5829C5F5-DF1D-4243-AA2A-CA2C404D6CFD}"/>
    <dgm:cxn modelId="{A2DF44B7-2C1E-354F-88D6-EEFD91DA7C14}" type="presOf" srcId="{F93E20A5-B81A-46BA-8564-59E6224CC786}" destId="{FDD1DA9B-BBE6-4D6D-A30E-51643751E300}" srcOrd="0" destOrd="0" presId="urn:microsoft.com/office/officeart/2018/2/layout/IconCircleList"/>
    <dgm:cxn modelId="{732172C4-900E-154E-BBE0-9D71DEA00B29}" type="presOf" srcId="{16195577-3AB4-4BBD-BD7F-7EFEC6E01482}" destId="{83305738-3702-4C22-8371-8A41098516B8}" srcOrd="0" destOrd="0" presId="urn:microsoft.com/office/officeart/2018/2/layout/IconCircleList"/>
    <dgm:cxn modelId="{C2401FD7-F882-BA4A-840F-D23104AA4B0F}" type="presOf" srcId="{6ECC4074-86DA-4536-9E57-9DEEE4860863}" destId="{4959FF12-7C1A-472B-B2CE-E6A10C5C91D6}" srcOrd="0" destOrd="0" presId="urn:microsoft.com/office/officeart/2018/2/layout/IconCircleList"/>
    <dgm:cxn modelId="{0BAFBBD8-D086-654D-9CCB-9FC13972C96A}" type="presOf" srcId="{5829C5F5-DF1D-4243-AA2A-CA2C404D6CFD}" destId="{5FFDEFA9-73D3-4571-84F0-DF17F7CDBC03}" srcOrd="0" destOrd="0" presId="urn:microsoft.com/office/officeart/2018/2/layout/IconCircleList"/>
    <dgm:cxn modelId="{03C30321-FE6A-774E-97AF-45A8BCB75902}" type="presParOf" srcId="{4959FF12-7C1A-472B-B2CE-E6A10C5C91D6}" destId="{AD99B5F0-56C2-40FF-AB41-700967DA8DD2}" srcOrd="0" destOrd="0" presId="urn:microsoft.com/office/officeart/2018/2/layout/IconCircleList"/>
    <dgm:cxn modelId="{CEF13040-3690-2A49-9B8B-EB2FABDDB4C3}" type="presParOf" srcId="{AD99B5F0-56C2-40FF-AB41-700967DA8DD2}" destId="{926A1B69-2037-458E-8A38-7B7DE7F03AFA}" srcOrd="0" destOrd="0" presId="urn:microsoft.com/office/officeart/2018/2/layout/IconCircleList"/>
    <dgm:cxn modelId="{AE80657A-2C6D-1A4A-9DDA-49203B1A0424}" type="presParOf" srcId="{926A1B69-2037-458E-8A38-7B7DE7F03AFA}" destId="{A2AEC886-FF39-421B-98C3-60E8339FD82D}" srcOrd="0" destOrd="0" presId="urn:microsoft.com/office/officeart/2018/2/layout/IconCircleList"/>
    <dgm:cxn modelId="{EC7FE73F-5480-984B-8A6B-E51AE422ECF1}" type="presParOf" srcId="{926A1B69-2037-458E-8A38-7B7DE7F03AFA}" destId="{B27DDDBD-065F-4773-B039-F5BDAF659270}" srcOrd="1" destOrd="0" presId="urn:microsoft.com/office/officeart/2018/2/layout/IconCircleList"/>
    <dgm:cxn modelId="{47E8D704-A48F-7447-83E5-E53C3D44B840}" type="presParOf" srcId="{926A1B69-2037-458E-8A38-7B7DE7F03AFA}" destId="{EFF90A9A-AC08-4B6F-A6E5-512DD1CA09A2}" srcOrd="2" destOrd="0" presId="urn:microsoft.com/office/officeart/2018/2/layout/IconCircleList"/>
    <dgm:cxn modelId="{6B7E9C32-9641-A349-BD5B-039F2C9E8763}" type="presParOf" srcId="{926A1B69-2037-458E-8A38-7B7DE7F03AFA}" destId="{BF1ED026-B1C6-49B1-BA40-7E2022E024A2}" srcOrd="3" destOrd="0" presId="urn:microsoft.com/office/officeart/2018/2/layout/IconCircleList"/>
    <dgm:cxn modelId="{900499C5-7CFF-BF4E-9CCF-DE349064F007}" type="presParOf" srcId="{AD99B5F0-56C2-40FF-AB41-700967DA8DD2}" destId="{4E60238E-3C26-4FAC-BCCA-35B3644C7200}" srcOrd="1" destOrd="0" presId="urn:microsoft.com/office/officeart/2018/2/layout/IconCircleList"/>
    <dgm:cxn modelId="{08F952B9-6A08-774F-A802-1E454C9E110A}" type="presParOf" srcId="{AD99B5F0-56C2-40FF-AB41-700967DA8DD2}" destId="{25445053-C1BA-4560-8A81-F695D6BBC2D0}" srcOrd="2" destOrd="0" presId="urn:microsoft.com/office/officeart/2018/2/layout/IconCircleList"/>
    <dgm:cxn modelId="{FF263720-5D2D-D240-88D7-6FAD771E102A}" type="presParOf" srcId="{25445053-C1BA-4560-8A81-F695D6BBC2D0}" destId="{7A8115EA-B1B6-4569-A44B-4075BF29F242}" srcOrd="0" destOrd="0" presId="urn:microsoft.com/office/officeart/2018/2/layout/IconCircleList"/>
    <dgm:cxn modelId="{846C225C-B18E-5344-BF9E-720D12B93A9F}" type="presParOf" srcId="{25445053-C1BA-4560-8A81-F695D6BBC2D0}" destId="{9E9FD4EF-1F21-47D7-8A03-7D8796855238}" srcOrd="1" destOrd="0" presId="urn:microsoft.com/office/officeart/2018/2/layout/IconCircleList"/>
    <dgm:cxn modelId="{4C14927C-29CC-E447-9D71-001531E7F14F}" type="presParOf" srcId="{25445053-C1BA-4560-8A81-F695D6BBC2D0}" destId="{A0EDFEC4-B281-4AB8-BAB9-222D19E7DA98}" srcOrd="2" destOrd="0" presId="urn:microsoft.com/office/officeart/2018/2/layout/IconCircleList"/>
    <dgm:cxn modelId="{625470CA-6E4D-8848-B9F8-BCC2A9B7362F}" type="presParOf" srcId="{25445053-C1BA-4560-8A81-F695D6BBC2D0}" destId="{9CB0B119-2103-4F26-A4B7-A126AC816739}" srcOrd="3" destOrd="0" presId="urn:microsoft.com/office/officeart/2018/2/layout/IconCircleList"/>
    <dgm:cxn modelId="{03B6C9F8-D693-8245-B89A-E81377C4282D}" type="presParOf" srcId="{AD99B5F0-56C2-40FF-AB41-700967DA8DD2}" destId="{FDD1DA9B-BBE6-4D6D-A30E-51643751E300}" srcOrd="3" destOrd="0" presId="urn:microsoft.com/office/officeart/2018/2/layout/IconCircleList"/>
    <dgm:cxn modelId="{F62883C8-347C-0A40-9985-B49862681284}" type="presParOf" srcId="{AD99B5F0-56C2-40FF-AB41-700967DA8DD2}" destId="{BC001501-3FC7-4E11-B23D-816D799216F9}" srcOrd="4" destOrd="0" presId="urn:microsoft.com/office/officeart/2018/2/layout/IconCircleList"/>
    <dgm:cxn modelId="{3E5873C4-B614-2D4E-83D7-F8F467501624}" type="presParOf" srcId="{BC001501-3FC7-4E11-B23D-816D799216F9}" destId="{20774582-43E3-49EC-9692-FE6121A13D9A}" srcOrd="0" destOrd="0" presId="urn:microsoft.com/office/officeart/2018/2/layout/IconCircleList"/>
    <dgm:cxn modelId="{BBCBB3F3-1731-E744-99C6-D94B8E746042}" type="presParOf" srcId="{BC001501-3FC7-4E11-B23D-816D799216F9}" destId="{36D765B9-109D-4200-93F1-890FC16C59BC}" srcOrd="1" destOrd="0" presId="urn:microsoft.com/office/officeart/2018/2/layout/IconCircleList"/>
    <dgm:cxn modelId="{F665BA97-BE2C-064F-A022-AED68C9D5839}" type="presParOf" srcId="{BC001501-3FC7-4E11-B23D-816D799216F9}" destId="{53DF4310-C293-41D2-8542-887E0581E86F}" srcOrd="2" destOrd="0" presId="urn:microsoft.com/office/officeart/2018/2/layout/IconCircleList"/>
    <dgm:cxn modelId="{FD5CB0FF-1BB2-1746-80BC-CC53D3A120D7}" type="presParOf" srcId="{BC001501-3FC7-4E11-B23D-816D799216F9}" destId="{83305738-3702-4C22-8371-8A41098516B8}" srcOrd="3" destOrd="0" presId="urn:microsoft.com/office/officeart/2018/2/layout/IconCircleList"/>
    <dgm:cxn modelId="{A4301977-F584-7340-BBE8-6508EC5925F0}" type="presParOf" srcId="{AD99B5F0-56C2-40FF-AB41-700967DA8DD2}" destId="{5FFDEFA9-73D3-4571-84F0-DF17F7CDBC03}" srcOrd="5" destOrd="0" presId="urn:microsoft.com/office/officeart/2018/2/layout/IconCircleList"/>
    <dgm:cxn modelId="{E01250EA-4DFC-0748-8453-961121EB9F7C}" type="presParOf" srcId="{AD99B5F0-56C2-40FF-AB41-700967DA8DD2}" destId="{EF4E904E-3A07-4C38-AA23-6B378BE5A3F0}" srcOrd="6" destOrd="0" presId="urn:microsoft.com/office/officeart/2018/2/layout/IconCircleList"/>
    <dgm:cxn modelId="{D09985C7-D8B1-F74E-8F63-C77A1563B843}" type="presParOf" srcId="{EF4E904E-3A07-4C38-AA23-6B378BE5A3F0}" destId="{8391E16E-0F7B-42CE-99FC-2B4B297A0CC3}" srcOrd="0" destOrd="0" presId="urn:microsoft.com/office/officeart/2018/2/layout/IconCircleList"/>
    <dgm:cxn modelId="{42FB80A5-7DCF-9846-AEED-6FC6B3B9BAAF}" type="presParOf" srcId="{EF4E904E-3A07-4C38-AA23-6B378BE5A3F0}" destId="{223F5470-59F8-4F8E-8BBC-81530A3A8A2A}" srcOrd="1" destOrd="0" presId="urn:microsoft.com/office/officeart/2018/2/layout/IconCircleList"/>
    <dgm:cxn modelId="{5811C800-86D0-1D43-A5E0-10A71970EFCD}" type="presParOf" srcId="{EF4E904E-3A07-4C38-AA23-6B378BE5A3F0}" destId="{C33B4C0F-F412-4049-A4E1-3050C7C0CAFA}" srcOrd="2" destOrd="0" presId="urn:microsoft.com/office/officeart/2018/2/layout/IconCircleList"/>
    <dgm:cxn modelId="{2F91054C-2F9E-D549-A164-2F627CEE8F67}" type="presParOf" srcId="{EF4E904E-3A07-4C38-AA23-6B378BE5A3F0}" destId="{6EFDAF45-379D-47F2-BC83-DA0847B8921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60DEC3-53FC-47B6-A9FE-3072468C67BF}">
      <dsp:nvSpPr>
        <dsp:cNvPr id="0" name=""/>
        <dsp:cNvSpPr/>
      </dsp:nvSpPr>
      <dsp:spPr>
        <a:xfrm>
          <a:off x="518185" y="768902"/>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957C40-BD6C-4BF0-8D53-E1F01DA986BC}">
      <dsp:nvSpPr>
        <dsp:cNvPr id="0" name=""/>
        <dsp:cNvSpPr/>
      </dsp:nvSpPr>
      <dsp:spPr>
        <a:xfrm>
          <a:off x="832623" y="1083340"/>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DCF581-88AD-4B04-A1BB-ED4358156242}">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Short-term: Dynamic pricing and real-time monitoring.</a:t>
          </a:r>
        </a:p>
      </dsp:txBody>
      <dsp:txXfrm>
        <a:off x="46529" y="2703902"/>
        <a:ext cx="2418750" cy="720000"/>
      </dsp:txXfrm>
    </dsp:sp>
    <dsp:sp modelId="{C3CAA495-03BE-49EF-99E3-A5387074691A}">
      <dsp:nvSpPr>
        <dsp:cNvPr id="0" name=""/>
        <dsp:cNvSpPr/>
      </dsp:nvSpPr>
      <dsp:spPr>
        <a:xfrm>
          <a:off x="3360216" y="768902"/>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71C6A4-C661-4BFF-AA93-0579901D0DC7}">
      <dsp:nvSpPr>
        <dsp:cNvPr id="0" name=""/>
        <dsp:cNvSpPr/>
      </dsp:nvSpPr>
      <dsp:spPr>
        <a:xfrm>
          <a:off x="3674654" y="1083340"/>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3197D7-85E4-4EC2-BAB8-70C08DFE1401}">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Mid-term: Remote parking with shuttle service.</a:t>
          </a:r>
        </a:p>
      </dsp:txBody>
      <dsp:txXfrm>
        <a:off x="2888560" y="2703902"/>
        <a:ext cx="2418750" cy="720000"/>
      </dsp:txXfrm>
    </dsp:sp>
    <dsp:sp modelId="{B9FD9B0C-0503-4DAC-8B46-FEB3CD837C23}">
      <dsp:nvSpPr>
        <dsp:cNvPr id="0" name=""/>
        <dsp:cNvSpPr/>
      </dsp:nvSpPr>
      <dsp:spPr>
        <a:xfrm>
          <a:off x="6202248" y="768902"/>
          <a:ext cx="1475437" cy="14754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632E1A-D6B1-4955-8454-EAD00188A124}">
      <dsp:nvSpPr>
        <dsp:cNvPr id="0" name=""/>
        <dsp:cNvSpPr/>
      </dsp:nvSpPr>
      <dsp:spPr>
        <a:xfrm>
          <a:off x="6516685" y="1083340"/>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563E56-C9A5-4E6F-B1E0-AC93F45029F7}">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Long-term: Lot expansion and infrastructure upgrades.</a:t>
          </a:r>
        </a:p>
      </dsp:txBody>
      <dsp:txXfrm>
        <a:off x="5730591" y="2703902"/>
        <a:ext cx="241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60C681-3E21-2D4C-8E6A-3E720F145134}">
      <dsp:nvSpPr>
        <dsp:cNvPr id="0" name=""/>
        <dsp:cNvSpPr/>
      </dsp:nvSpPr>
      <dsp:spPr>
        <a:xfrm>
          <a:off x="0" y="546079"/>
          <a:ext cx="5000124" cy="103428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Lot02 frequently hits 100% occupancy, causing turn-aways.</a:t>
          </a:r>
        </a:p>
      </dsp:txBody>
      <dsp:txXfrm>
        <a:off x="50489" y="596568"/>
        <a:ext cx="4899146" cy="933302"/>
      </dsp:txXfrm>
    </dsp:sp>
    <dsp:sp modelId="{89F01B39-F870-6641-BC0C-61C92E499BDD}">
      <dsp:nvSpPr>
        <dsp:cNvPr id="0" name=""/>
        <dsp:cNvSpPr/>
      </dsp:nvSpPr>
      <dsp:spPr>
        <a:xfrm>
          <a:off x="0" y="1655239"/>
          <a:ext cx="5000124" cy="1034280"/>
        </a:xfrm>
        <a:prstGeom prst="round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Lot01 remains above 90% for long periods, creating congestion.</a:t>
          </a:r>
        </a:p>
      </dsp:txBody>
      <dsp:txXfrm>
        <a:off x="50489" y="1705728"/>
        <a:ext cx="4899146" cy="933302"/>
      </dsp:txXfrm>
    </dsp:sp>
    <dsp:sp modelId="{D1C105C1-0492-F247-A3F3-0D510B6E74CC}">
      <dsp:nvSpPr>
        <dsp:cNvPr id="0" name=""/>
        <dsp:cNvSpPr/>
      </dsp:nvSpPr>
      <dsp:spPr>
        <a:xfrm>
          <a:off x="0" y="2764400"/>
          <a:ext cx="5000124" cy="1034280"/>
        </a:xfrm>
        <a:prstGeom prst="round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Drivers experience frustration and longer search times.</a:t>
          </a:r>
        </a:p>
      </dsp:txBody>
      <dsp:txXfrm>
        <a:off x="50489" y="2814889"/>
        <a:ext cx="4899146" cy="933302"/>
      </dsp:txXfrm>
    </dsp:sp>
    <dsp:sp modelId="{A025F8EA-7B5D-AD40-A9D1-EF1C79DBDAE5}">
      <dsp:nvSpPr>
        <dsp:cNvPr id="0" name=""/>
        <dsp:cNvSpPr/>
      </dsp:nvSpPr>
      <dsp:spPr>
        <a:xfrm>
          <a:off x="0" y="3873560"/>
          <a:ext cx="5000124" cy="103428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Structural under-supply during peak hours.</a:t>
          </a:r>
        </a:p>
      </dsp:txBody>
      <dsp:txXfrm>
        <a:off x="50489" y="3924049"/>
        <a:ext cx="4899146" cy="9333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E9222D-DD11-D542-9676-99EB4A840CA4}">
      <dsp:nvSpPr>
        <dsp:cNvPr id="0" name=""/>
        <dsp:cNvSpPr/>
      </dsp:nvSpPr>
      <dsp:spPr>
        <a:xfrm>
          <a:off x="97" y="2019422"/>
          <a:ext cx="1179228" cy="1415074"/>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6482" tIns="0" rIns="116482" bIns="330200" numCol="1" spcCol="1270" anchor="t" anchorCtr="0">
          <a:noAutofit/>
        </a:bodyPr>
        <a:lstStyle/>
        <a:p>
          <a:pPr marL="0" lvl="0" indent="0" algn="l" defTabSz="488950">
            <a:lnSpc>
              <a:spcPct val="90000"/>
            </a:lnSpc>
            <a:spcBef>
              <a:spcPct val="0"/>
            </a:spcBef>
            <a:spcAft>
              <a:spcPct val="35000"/>
            </a:spcAft>
            <a:buNone/>
          </a:pPr>
          <a:r>
            <a:rPr lang="en-US" sz="1100" kern="1200"/>
            <a:t>Deploy smart parking systems with IoT sensors.</a:t>
          </a:r>
        </a:p>
      </dsp:txBody>
      <dsp:txXfrm>
        <a:off x="97" y="2585452"/>
        <a:ext cx="1179228" cy="849044"/>
      </dsp:txXfrm>
    </dsp:sp>
    <dsp:sp modelId="{241622ED-6400-2C4B-8BA6-B4F44CBC7AD6}">
      <dsp:nvSpPr>
        <dsp:cNvPr id="0" name=""/>
        <dsp:cNvSpPr/>
      </dsp:nvSpPr>
      <dsp:spPr>
        <a:xfrm>
          <a:off x="97" y="2019422"/>
          <a:ext cx="1179228" cy="566029"/>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16482" tIns="165100" rIns="116482" bIns="165100" numCol="1" spcCol="1270" anchor="ctr" anchorCtr="0">
          <a:noAutofit/>
        </a:bodyPr>
        <a:lstStyle/>
        <a:p>
          <a:pPr marL="0" lvl="0" indent="0" algn="l" defTabSz="711200">
            <a:lnSpc>
              <a:spcPct val="90000"/>
            </a:lnSpc>
            <a:spcBef>
              <a:spcPct val="0"/>
            </a:spcBef>
            <a:spcAft>
              <a:spcPct val="35000"/>
            </a:spcAft>
            <a:buNone/>
          </a:pPr>
          <a:r>
            <a:rPr lang="en-US" sz="1600" kern="1200"/>
            <a:t>01</a:t>
          </a:r>
        </a:p>
      </dsp:txBody>
      <dsp:txXfrm>
        <a:off x="97" y="2019422"/>
        <a:ext cx="1179228" cy="566029"/>
      </dsp:txXfrm>
    </dsp:sp>
    <dsp:sp modelId="{92D48BAD-7E69-EE4E-82BD-1CA3433DC78F}">
      <dsp:nvSpPr>
        <dsp:cNvPr id="0" name=""/>
        <dsp:cNvSpPr/>
      </dsp:nvSpPr>
      <dsp:spPr>
        <a:xfrm>
          <a:off x="1273664" y="2019422"/>
          <a:ext cx="1179228" cy="1415074"/>
        </a:xfrm>
        <a:prstGeom prst="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w="9525" cap="flat" cmpd="sng" algn="ctr">
          <a:solidFill>
            <a:schemeClr val="accent5">
              <a:hueOff val="-3311292"/>
              <a:satOff val="13270"/>
              <a:lumOff val="2876"/>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6482" tIns="0" rIns="116482" bIns="330200" numCol="1" spcCol="1270" anchor="t" anchorCtr="0">
          <a:noAutofit/>
        </a:bodyPr>
        <a:lstStyle/>
        <a:p>
          <a:pPr marL="0" lvl="0" indent="0" algn="l" defTabSz="488950">
            <a:lnSpc>
              <a:spcPct val="90000"/>
            </a:lnSpc>
            <a:spcBef>
              <a:spcPct val="0"/>
            </a:spcBef>
            <a:spcAft>
              <a:spcPct val="35000"/>
            </a:spcAft>
            <a:buNone/>
          </a:pPr>
          <a:r>
            <a:rPr lang="en-US" sz="1100" kern="1200"/>
            <a:t>Implement dynamic pricing to manage demand.</a:t>
          </a:r>
        </a:p>
      </dsp:txBody>
      <dsp:txXfrm>
        <a:off x="1273664" y="2585452"/>
        <a:ext cx="1179228" cy="849044"/>
      </dsp:txXfrm>
    </dsp:sp>
    <dsp:sp modelId="{44501306-E673-DF41-AADF-F56CA62EF68F}">
      <dsp:nvSpPr>
        <dsp:cNvPr id="0" name=""/>
        <dsp:cNvSpPr/>
      </dsp:nvSpPr>
      <dsp:spPr>
        <a:xfrm>
          <a:off x="1273664" y="2019422"/>
          <a:ext cx="1179228" cy="566029"/>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16482" tIns="165100" rIns="116482" bIns="165100" numCol="1" spcCol="1270" anchor="ctr" anchorCtr="0">
          <a:noAutofit/>
        </a:bodyPr>
        <a:lstStyle/>
        <a:p>
          <a:pPr marL="0" lvl="0" indent="0" algn="l" defTabSz="711200">
            <a:lnSpc>
              <a:spcPct val="90000"/>
            </a:lnSpc>
            <a:spcBef>
              <a:spcPct val="0"/>
            </a:spcBef>
            <a:spcAft>
              <a:spcPct val="35000"/>
            </a:spcAft>
            <a:buNone/>
          </a:pPr>
          <a:r>
            <a:rPr lang="en-US" sz="1600" kern="1200"/>
            <a:t>02</a:t>
          </a:r>
        </a:p>
      </dsp:txBody>
      <dsp:txXfrm>
        <a:off x="1273664" y="2019422"/>
        <a:ext cx="1179228" cy="566029"/>
      </dsp:txXfrm>
    </dsp:sp>
    <dsp:sp modelId="{36E48EB5-3591-0F43-83D7-19EEF162F94E}">
      <dsp:nvSpPr>
        <dsp:cNvPr id="0" name=""/>
        <dsp:cNvSpPr/>
      </dsp:nvSpPr>
      <dsp:spPr>
        <a:xfrm>
          <a:off x="2547231" y="2019422"/>
          <a:ext cx="1179228" cy="1415074"/>
        </a:xfrm>
        <a:prstGeom prst="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w="9525" cap="flat" cmpd="sng" algn="ctr">
          <a:solidFill>
            <a:schemeClr val="accent5">
              <a:hueOff val="-6622584"/>
              <a:satOff val="26541"/>
              <a:lumOff val="5752"/>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6482" tIns="0" rIns="116482" bIns="330200" numCol="1" spcCol="1270" anchor="t" anchorCtr="0">
          <a:noAutofit/>
        </a:bodyPr>
        <a:lstStyle/>
        <a:p>
          <a:pPr marL="0" lvl="0" indent="0" algn="l" defTabSz="488950">
            <a:lnSpc>
              <a:spcPct val="90000"/>
            </a:lnSpc>
            <a:spcBef>
              <a:spcPct val="0"/>
            </a:spcBef>
            <a:spcAft>
              <a:spcPct val="35000"/>
            </a:spcAft>
            <a:buNone/>
          </a:pPr>
          <a:r>
            <a:rPr lang="en-US" sz="1100" kern="1200"/>
            <a:t>Integrate real-time availability into mobile apps.</a:t>
          </a:r>
        </a:p>
      </dsp:txBody>
      <dsp:txXfrm>
        <a:off x="2547231" y="2585452"/>
        <a:ext cx="1179228" cy="849044"/>
      </dsp:txXfrm>
    </dsp:sp>
    <dsp:sp modelId="{58626337-3782-7A41-A40C-E8E24A8F380E}">
      <dsp:nvSpPr>
        <dsp:cNvPr id="0" name=""/>
        <dsp:cNvSpPr/>
      </dsp:nvSpPr>
      <dsp:spPr>
        <a:xfrm>
          <a:off x="2547231" y="2019422"/>
          <a:ext cx="1179228" cy="566029"/>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16482" tIns="165100" rIns="116482" bIns="165100" numCol="1" spcCol="1270" anchor="ctr" anchorCtr="0">
          <a:noAutofit/>
        </a:bodyPr>
        <a:lstStyle/>
        <a:p>
          <a:pPr marL="0" lvl="0" indent="0" algn="l" defTabSz="711200">
            <a:lnSpc>
              <a:spcPct val="90000"/>
            </a:lnSpc>
            <a:spcBef>
              <a:spcPct val="0"/>
            </a:spcBef>
            <a:spcAft>
              <a:spcPct val="35000"/>
            </a:spcAft>
            <a:buNone/>
          </a:pPr>
          <a:r>
            <a:rPr lang="en-US" sz="1600" kern="1200"/>
            <a:t>03</a:t>
          </a:r>
        </a:p>
      </dsp:txBody>
      <dsp:txXfrm>
        <a:off x="2547231" y="2019422"/>
        <a:ext cx="1179228" cy="566029"/>
      </dsp:txXfrm>
    </dsp:sp>
    <dsp:sp modelId="{32A7F2F4-EF76-494B-A349-FC1F5325B1FE}">
      <dsp:nvSpPr>
        <dsp:cNvPr id="0" name=""/>
        <dsp:cNvSpPr/>
      </dsp:nvSpPr>
      <dsp:spPr>
        <a:xfrm>
          <a:off x="3820797" y="2019422"/>
          <a:ext cx="1179228" cy="1415074"/>
        </a:xfrm>
        <a:prstGeom prst="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6482" tIns="0" rIns="116482" bIns="330200" numCol="1" spcCol="1270" anchor="t" anchorCtr="0">
          <a:noAutofit/>
        </a:bodyPr>
        <a:lstStyle/>
        <a:p>
          <a:pPr marL="0" lvl="0" indent="0" algn="l" defTabSz="488950">
            <a:lnSpc>
              <a:spcPct val="90000"/>
            </a:lnSpc>
            <a:spcBef>
              <a:spcPct val="0"/>
            </a:spcBef>
            <a:spcAft>
              <a:spcPct val="35000"/>
            </a:spcAft>
            <a:buNone/>
          </a:pPr>
          <a:r>
            <a:rPr lang="en-US" sz="1100" kern="1200"/>
            <a:t>Promote sustainable transport options.</a:t>
          </a:r>
        </a:p>
      </dsp:txBody>
      <dsp:txXfrm>
        <a:off x="3820797" y="2585452"/>
        <a:ext cx="1179228" cy="849044"/>
      </dsp:txXfrm>
    </dsp:sp>
    <dsp:sp modelId="{1A20833A-C255-F94A-BF56-0BDC573C2933}">
      <dsp:nvSpPr>
        <dsp:cNvPr id="0" name=""/>
        <dsp:cNvSpPr/>
      </dsp:nvSpPr>
      <dsp:spPr>
        <a:xfrm>
          <a:off x="3820797" y="2019422"/>
          <a:ext cx="1179228" cy="566029"/>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16482" tIns="165100" rIns="116482" bIns="165100" numCol="1" spcCol="1270" anchor="ctr" anchorCtr="0">
          <a:noAutofit/>
        </a:bodyPr>
        <a:lstStyle/>
        <a:p>
          <a:pPr marL="0" lvl="0" indent="0" algn="l" defTabSz="711200">
            <a:lnSpc>
              <a:spcPct val="90000"/>
            </a:lnSpc>
            <a:spcBef>
              <a:spcPct val="0"/>
            </a:spcBef>
            <a:spcAft>
              <a:spcPct val="35000"/>
            </a:spcAft>
            <a:buNone/>
          </a:pPr>
          <a:r>
            <a:rPr lang="en-US" sz="1600" kern="1200"/>
            <a:t>04</a:t>
          </a:r>
        </a:p>
      </dsp:txBody>
      <dsp:txXfrm>
        <a:off x="3820797" y="2019422"/>
        <a:ext cx="1179228" cy="5660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EAC4D-BCFA-D345-85E8-04040AFCE8D6}">
      <dsp:nvSpPr>
        <dsp:cNvPr id="0" name=""/>
        <dsp:cNvSpPr/>
      </dsp:nvSpPr>
      <dsp:spPr>
        <a:xfrm>
          <a:off x="2622678" y="2098"/>
          <a:ext cx="2950513" cy="100930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Lots analyzed: Lot01 (863 spaces) and Lot02 (387 spaces)</a:t>
          </a:r>
        </a:p>
      </dsp:txBody>
      <dsp:txXfrm>
        <a:off x="2671948" y="51368"/>
        <a:ext cx="2851973" cy="910763"/>
      </dsp:txXfrm>
    </dsp:sp>
    <dsp:sp modelId="{BD859946-E37A-984B-930C-F8D1919B03E7}">
      <dsp:nvSpPr>
        <dsp:cNvPr id="0" name=""/>
        <dsp:cNvSpPr/>
      </dsp:nvSpPr>
      <dsp:spPr>
        <a:xfrm>
          <a:off x="2622678" y="1061866"/>
          <a:ext cx="2950513" cy="1009303"/>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Time period: 11/20/22 – 12/17/22</a:t>
          </a:r>
        </a:p>
      </dsp:txBody>
      <dsp:txXfrm>
        <a:off x="2671948" y="1111136"/>
        <a:ext cx="2851973" cy="910763"/>
      </dsp:txXfrm>
    </dsp:sp>
    <dsp:sp modelId="{F19004D6-B09A-F349-BAF2-0A4C6ECD7996}">
      <dsp:nvSpPr>
        <dsp:cNvPr id="0" name=""/>
        <dsp:cNvSpPr/>
      </dsp:nvSpPr>
      <dsp:spPr>
        <a:xfrm>
          <a:off x="2622678" y="2121635"/>
          <a:ext cx="2950513" cy="100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Granularity: Readings every ~30 minutes from 8:00 to 16:30</a:t>
          </a:r>
        </a:p>
      </dsp:txBody>
      <dsp:txXfrm>
        <a:off x="2671948" y="2170905"/>
        <a:ext cx="2851973" cy="910763"/>
      </dsp:txXfrm>
    </dsp:sp>
    <dsp:sp modelId="{6C7743D2-B884-7E40-B62F-4DB698919FF5}">
      <dsp:nvSpPr>
        <dsp:cNvPr id="0" name=""/>
        <dsp:cNvSpPr/>
      </dsp:nvSpPr>
      <dsp:spPr>
        <a:xfrm>
          <a:off x="2622678" y="3181403"/>
          <a:ext cx="2950513" cy="100930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Fields: LotCode, LotCapacity, LotOccupancy, TimeStamp, Day, OccupancyRate</a:t>
          </a:r>
        </a:p>
      </dsp:txBody>
      <dsp:txXfrm>
        <a:off x="2671948" y="3230673"/>
        <a:ext cx="2851973" cy="9107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AEC886-FF39-421B-98C3-60E8339FD82D}">
      <dsp:nvSpPr>
        <dsp:cNvPr id="0" name=""/>
        <dsp:cNvSpPr/>
      </dsp:nvSpPr>
      <dsp:spPr>
        <a:xfrm>
          <a:off x="18535" y="659889"/>
          <a:ext cx="1080124" cy="108012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7DDDBD-065F-4773-B039-F5BDAF659270}">
      <dsp:nvSpPr>
        <dsp:cNvPr id="0" name=""/>
        <dsp:cNvSpPr/>
      </dsp:nvSpPr>
      <dsp:spPr>
        <a:xfrm>
          <a:off x="245361" y="886715"/>
          <a:ext cx="626472" cy="6264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1ED026-B1C6-49B1-BA40-7E2022E024A2}">
      <dsp:nvSpPr>
        <dsp:cNvPr id="0" name=""/>
        <dsp:cNvSpPr/>
      </dsp:nvSpPr>
      <dsp:spPr>
        <a:xfrm>
          <a:off x="1330115" y="659889"/>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Peak congestion observed between 10:00–14:30 across both lots.</a:t>
          </a:r>
        </a:p>
      </dsp:txBody>
      <dsp:txXfrm>
        <a:off x="1330115" y="659889"/>
        <a:ext cx="2546008" cy="1080124"/>
      </dsp:txXfrm>
    </dsp:sp>
    <dsp:sp modelId="{7A8115EA-B1B6-4569-A44B-4075BF29F242}">
      <dsp:nvSpPr>
        <dsp:cNvPr id="0" name=""/>
        <dsp:cNvSpPr/>
      </dsp:nvSpPr>
      <dsp:spPr>
        <a:xfrm>
          <a:off x="4319746" y="659889"/>
          <a:ext cx="1080124" cy="108012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9FD4EF-1F21-47D7-8A03-7D8796855238}">
      <dsp:nvSpPr>
        <dsp:cNvPr id="0" name=""/>
        <dsp:cNvSpPr/>
      </dsp:nvSpPr>
      <dsp:spPr>
        <a:xfrm>
          <a:off x="4546573" y="886715"/>
          <a:ext cx="626472" cy="6264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B0B119-2103-4F26-A4B7-A126AC816739}">
      <dsp:nvSpPr>
        <dsp:cNvPr id="0" name=""/>
        <dsp:cNvSpPr/>
      </dsp:nvSpPr>
      <dsp:spPr>
        <a:xfrm>
          <a:off x="5631327" y="659889"/>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Lot02 consistently reaches 100% occupancy, indicating severe capacity constraints.</a:t>
          </a:r>
        </a:p>
      </dsp:txBody>
      <dsp:txXfrm>
        <a:off x="5631327" y="659889"/>
        <a:ext cx="2546008" cy="1080124"/>
      </dsp:txXfrm>
    </dsp:sp>
    <dsp:sp modelId="{20774582-43E3-49EC-9692-FE6121A13D9A}">
      <dsp:nvSpPr>
        <dsp:cNvPr id="0" name=""/>
        <dsp:cNvSpPr/>
      </dsp:nvSpPr>
      <dsp:spPr>
        <a:xfrm>
          <a:off x="18535" y="2452790"/>
          <a:ext cx="1080124" cy="108012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D765B9-109D-4200-93F1-890FC16C59BC}">
      <dsp:nvSpPr>
        <dsp:cNvPr id="0" name=""/>
        <dsp:cNvSpPr/>
      </dsp:nvSpPr>
      <dsp:spPr>
        <a:xfrm>
          <a:off x="245361" y="2679617"/>
          <a:ext cx="626472" cy="6264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305738-3702-4C22-8371-8A41098516B8}">
      <dsp:nvSpPr>
        <dsp:cNvPr id="0" name=""/>
        <dsp:cNvSpPr/>
      </dsp:nvSpPr>
      <dsp:spPr>
        <a:xfrm>
          <a:off x="1330115" y="2452790"/>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Lot01 also operates above 90% for extended periods, creating structural under-supply.</a:t>
          </a:r>
        </a:p>
      </dsp:txBody>
      <dsp:txXfrm>
        <a:off x="1330115" y="2452790"/>
        <a:ext cx="2546008" cy="1080124"/>
      </dsp:txXfrm>
    </dsp:sp>
    <dsp:sp modelId="{8391E16E-0F7B-42CE-99FC-2B4B297A0CC3}">
      <dsp:nvSpPr>
        <dsp:cNvPr id="0" name=""/>
        <dsp:cNvSpPr/>
      </dsp:nvSpPr>
      <dsp:spPr>
        <a:xfrm>
          <a:off x="4319746" y="2452790"/>
          <a:ext cx="1080124" cy="108012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3F5470-59F8-4F8E-8BBC-81530A3A8A2A}">
      <dsp:nvSpPr>
        <dsp:cNvPr id="0" name=""/>
        <dsp:cNvSpPr/>
      </dsp:nvSpPr>
      <dsp:spPr>
        <a:xfrm>
          <a:off x="4546573" y="2679617"/>
          <a:ext cx="626472" cy="6264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FDAF45-379D-47F2-BC83-DA0847B89216}">
      <dsp:nvSpPr>
        <dsp:cNvPr id="0" name=""/>
        <dsp:cNvSpPr/>
      </dsp:nvSpPr>
      <dsp:spPr>
        <a:xfrm>
          <a:off x="5631327" y="2452790"/>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Strategic priorities: Implement demand management, remote parking, and long-term expansion planning.</a:t>
          </a:r>
        </a:p>
      </dsp:txBody>
      <dsp:txXfrm>
        <a:off x="5631327" y="2452790"/>
        <a:ext cx="2546008" cy="108012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995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i="1" kern="1200" dirty="0">
                <a:solidFill>
                  <a:schemeClr val="tx1"/>
                </a:solidFill>
                <a:effectLst/>
                <a:latin typeface="+mn-lt"/>
                <a:ea typeface="+mn-ea"/>
                <a:cs typeface="+mn-cs"/>
              </a:rPr>
              <a:t>Welcome, and thank you for reviewing my Parking Utilization Analysis.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This assessment looks at real occupancy data from two parking lots in the City of Irvine over a four-week period, from November 20th through December 17th. The goal of this study is to understand how consistently each lot operates near or at capacity, identify the time windows with the highest stress on parking supply, and highlight any operational or planning needs.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My name is Allen Day, and in this presentation I’ll walk through the dataset, the utilization patterns we observed, and the recommendations based on the data.</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0" dirty="0"/>
              <a:t>On this slide, I’m outlining a phased implementation approach that helps us address both the immediate congestion problems and the long-term parking challenges we’re facing.</a:t>
            </a:r>
          </a:p>
          <a:p>
            <a:br>
              <a:rPr lang="en-US" b="0" dirty="0"/>
            </a:br>
            <a:endParaRPr lang="en-US" b="0" dirty="0"/>
          </a:p>
          <a:p>
            <a:r>
              <a:rPr lang="en-US" b="0" dirty="0"/>
              <a:t>In the short term, our quickest wins will come from introducing dynamic pricing and expanding real-time monitoring. Dynamic pricing—used in cities like San Francisco through their </a:t>
            </a:r>
            <a:r>
              <a:rPr lang="en-US" b="0" dirty="0" err="1"/>
              <a:t>SFPark</a:t>
            </a:r>
            <a:r>
              <a:rPr lang="en-US" b="0" dirty="0"/>
              <a:t> program—helps shift demand naturally by offering lower prices during off-peak periods and slightly higher rates during the busiest hours. Pairing that with live occupancy data allows drivers to see available spaces before entering a lot, which reduces circling and cuts down on unnecessary traffic.</a:t>
            </a:r>
          </a:p>
          <a:p>
            <a:br>
              <a:rPr lang="en-US" b="0" dirty="0"/>
            </a:br>
            <a:endParaRPr lang="en-US" b="0" dirty="0"/>
          </a:p>
          <a:p>
            <a:r>
              <a:rPr lang="en-US" b="0" dirty="0"/>
              <a:t>In the mid-term, we can move toward establishing remote parking options supported by shuttle services. This is especially useful during special events or seasonal peaks. Irvine already uses similar strategies for large-scale events at the Great Park, so expanding that model to the civic center and high-demand commercial zones is a practical next step. This allows us to divert overflow before lots reach saturation.</a:t>
            </a:r>
          </a:p>
          <a:p>
            <a:br>
              <a:rPr lang="en-US" b="0" dirty="0"/>
            </a:br>
            <a:endParaRPr lang="en-US" b="0" dirty="0"/>
          </a:p>
          <a:p>
            <a:r>
              <a:rPr lang="en-US" b="0" dirty="0"/>
              <a:t>In the long term, the data clearly supports evaluating physical expansion and broader infrastructure upgrades. Both lots consistently exceed 90–100% occupancy during peak periods, which is well above the recommended operational threshold for smooth traffic flow. Whether that means adding structured parking, redesigning existing lots, or exploring shared-use partnerships, we’ll need to plan ahead as our population and business activity continue to grow.</a:t>
            </a:r>
          </a:p>
          <a:p>
            <a:br>
              <a:rPr lang="en-US" b="0" dirty="0"/>
            </a:br>
            <a:endParaRPr lang="en-US" b="0" dirty="0"/>
          </a:p>
          <a:p>
            <a:r>
              <a:rPr lang="en-US" b="0" dirty="0"/>
              <a:t>Overall, this roadmap balances immediate relief with sustainable long-term capacity planning, ensuring Irvine stays ahead of demand rather than falling behind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I’m highlighting the main operational challenges we identified across both parking lots.</a:t>
            </a:r>
          </a:p>
          <a:p>
            <a:br>
              <a:rPr lang="en-US" dirty="0"/>
            </a:br>
            <a:endParaRPr lang="en-US" dirty="0"/>
          </a:p>
          <a:p>
            <a:r>
              <a:rPr lang="en-US" dirty="0"/>
              <a:t>First, Lot02 frequently reaches </a:t>
            </a:r>
            <a:r>
              <a:rPr lang="en-US" b="1" dirty="0"/>
              <a:t>100% occupancy</a:t>
            </a:r>
            <a:r>
              <a:rPr lang="en-US" dirty="0"/>
              <a:t>, which means drivers are routinely turned away. This creates unnecessary circulation and adds pressure to nearby lots.</a:t>
            </a:r>
          </a:p>
          <a:p>
            <a:br>
              <a:rPr lang="en-US" dirty="0"/>
            </a:br>
            <a:endParaRPr lang="en-US" dirty="0"/>
          </a:p>
          <a:p>
            <a:r>
              <a:rPr lang="en-US" dirty="0"/>
              <a:t>Second, Lot01 consistently stays above </a:t>
            </a:r>
            <a:r>
              <a:rPr lang="en-US" b="1" dirty="0"/>
              <a:t>90% occupancy for long stretches</a:t>
            </a:r>
            <a:r>
              <a:rPr lang="en-US" dirty="0"/>
              <a:t>, and once a lot hits that threshold, it effectively feels full from a driver’s perspective. This leads to congestion, circling, and slower movement within the facility.</a:t>
            </a:r>
          </a:p>
          <a:p>
            <a:br>
              <a:rPr lang="en-US" dirty="0"/>
            </a:br>
            <a:endParaRPr lang="en-US" dirty="0"/>
          </a:p>
          <a:p>
            <a:r>
              <a:rPr lang="en-US" dirty="0"/>
              <a:t>These high occupancy levels translate directly into frustration for users. Drivers spend more time searching for a space, which increases traffic within the lots and surrounding streets.</a:t>
            </a:r>
          </a:p>
          <a:p>
            <a:br>
              <a:rPr lang="en-US" dirty="0"/>
            </a:br>
            <a:endParaRPr lang="en-US" dirty="0"/>
          </a:p>
          <a:p>
            <a:r>
              <a:rPr lang="en-US" dirty="0"/>
              <a:t>Overall, the pattern points to a </a:t>
            </a:r>
            <a:r>
              <a:rPr lang="en-US" b="1" dirty="0"/>
              <a:t>structural under-supply during peak hours</a:t>
            </a:r>
            <a:r>
              <a:rPr lang="en-US" dirty="0"/>
              <a:t>, meaning demand is exceeding available capacity, not just occasionally but as a recurring daily trend. This is an important factor as we consider solutions like smart-parking technology or demand-shifting strategies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0" dirty="0"/>
              <a:t>“As we look ahead, our goal is to position Irvine as a leader in modern mobility and smart-city infrastructure. This vision builds on the trends we identified in the data—consistent peak congestion, high user frustration, and structural under-supply in our busiest lots. To address this proactively, we’re outlining a forward-thinking approach that focuses on technology, efficiency, and sustainability.”</a:t>
            </a:r>
          </a:p>
          <a:p>
            <a:br>
              <a:rPr lang="en-US" b="0" dirty="0"/>
            </a:br>
            <a:endParaRPr lang="en-US" b="0" dirty="0"/>
          </a:p>
          <a:p>
            <a:r>
              <a:rPr lang="en-US" b="0" dirty="0"/>
              <a:t>“First, deploying smart parking systems with IoT sensors will give us real-time visibility into parking capacity across the city. Cities like Los Angeles, San Diego, and San Francisco have already implemented sensor-based systems that reduced circling time and improved traffic flow. Implementing this step allows us to monitor patterns dynamically instead of relying solely on manual logs.”</a:t>
            </a:r>
          </a:p>
          <a:p>
            <a:br>
              <a:rPr lang="en-US" b="0" dirty="0"/>
            </a:br>
            <a:endParaRPr lang="en-US" b="0" dirty="0"/>
          </a:p>
          <a:p>
            <a:r>
              <a:rPr lang="en-US" b="0" dirty="0"/>
              <a:t>“Second, dynamic pricing can help manage demand more evenly throughout the day. This means adjusting prices during peak hours to reduce congestion and incentivizing drivers to park during lower-demand times. This method is already used successfully in several major cities and helps stretch existing capacity before building more lots.”</a:t>
            </a:r>
          </a:p>
          <a:p>
            <a:br>
              <a:rPr lang="en-US" b="0" dirty="0"/>
            </a:br>
            <a:endParaRPr lang="en-US" b="0" dirty="0"/>
          </a:p>
          <a:p>
            <a:r>
              <a:rPr lang="en-US" b="0" dirty="0"/>
              <a:t>“Third, integrating this data into mobile apps will give residents, commuters, and visitors real-time availability before they even arrive at a lot. This reduces circling, cuts emissions, and improves user satisfaction. This strategy aligns with Irvine’s ongoing Smart City Framework, which prioritizes digital service delivery and efficient mobility solutions.”</a:t>
            </a:r>
          </a:p>
          <a:p>
            <a:br>
              <a:rPr lang="en-US" b="0" dirty="0"/>
            </a:br>
            <a:endParaRPr lang="en-US" b="0" dirty="0"/>
          </a:p>
          <a:p>
            <a:r>
              <a:rPr lang="en-US" b="0" dirty="0"/>
              <a:t>“Lastly, promoting sustainable transportation—such as expanded bike networks, transit partnerships, and micro-mobility options—reduces pressure on our parking ecosystem entirely. As Irvine continues growing, especially around the Spectrum and Great Park districts, having these alternatives in place will be essential for long-term mobility resilience.”</a:t>
            </a:r>
          </a:p>
          <a:p>
            <a:br>
              <a:rPr lang="en-US" b="0" dirty="0"/>
            </a:br>
            <a:endParaRPr lang="en-US" b="0" dirty="0"/>
          </a:p>
          <a:p>
            <a:r>
              <a:rPr lang="en-US" b="0" dirty="0"/>
              <a:t>“Altogether, these strategies move Irvine toward a balanced, technology-driven parking ecosystem that supports economic growth, improves the resident experience, and prepares the city for future demand.”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I’m laying out the foundation of the dataset used for the analysis. We examined two parking lots: Lot01 with 863 total spaces and Lot02 with 387 spaces. The timeframe covers nearly a full month, from November 20th through December 17th.</a:t>
            </a:r>
          </a:p>
          <a:p>
            <a:br>
              <a:rPr lang="en-US" dirty="0"/>
            </a:br>
            <a:endParaRPr lang="en-US" dirty="0"/>
          </a:p>
          <a:p>
            <a:r>
              <a:rPr lang="en-US" dirty="0"/>
              <a:t>Data was captured roughly every 30 minutes throughout the active day, from about 8:00 AM to 4:30 PM. That gives us consistent snapshots of real-time parking demand across both locations.</a:t>
            </a:r>
          </a:p>
          <a:p>
            <a:br>
              <a:rPr lang="en-US" dirty="0"/>
            </a:br>
            <a:endParaRPr lang="en-US" dirty="0"/>
          </a:p>
          <a:p>
            <a:r>
              <a:rPr lang="en-US" dirty="0"/>
              <a:t>The dataset includes the key fields we need to understand utilization patterns: the lot identifier, the total capacity, the number of occupied spaces at each reading, the timestamp, the day of the week, and the calculated occupancy rate.</a:t>
            </a:r>
          </a:p>
          <a:p>
            <a:br>
              <a:rPr lang="en-US" dirty="0"/>
            </a:br>
            <a:endParaRPr lang="en-US" dirty="0"/>
          </a:p>
          <a:p>
            <a:r>
              <a:rPr lang="en-US" dirty="0"/>
              <a:t>Altogether, this structure gives us a clear and reliable view of how both lots behave hour-to-hour and day-to-day, which becomes the foundation for the boxplots, scatterplots, and final recommendations later in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we’re looking at the combined utilization trends for both Lot01 and Lot02 across a typical day. What really stands out is how quickly demand ramps up in the morning.</a:t>
            </a:r>
          </a:p>
          <a:p>
            <a:br>
              <a:rPr lang="en-US" dirty="0"/>
            </a:br>
            <a:endParaRPr lang="en-US" dirty="0"/>
          </a:p>
          <a:p>
            <a:r>
              <a:rPr lang="en-US" dirty="0"/>
              <a:t>Around 8:00 AM, occupancy is still manageable—roughly 30% for Lot01 and about 40% for Lot02. But by 9:30 AM, both lots experience a steep climb, with Lot02 already approaching heavy use as it nears 90% capacity.</a:t>
            </a:r>
          </a:p>
          <a:p>
            <a:br>
              <a:rPr lang="en-US" dirty="0"/>
            </a:br>
            <a:endParaRPr lang="en-US" dirty="0"/>
          </a:p>
          <a:p>
            <a:r>
              <a:rPr lang="en-US" dirty="0"/>
              <a:t>By 11:30, we consistently see both lots hitting their operational peak. Lot02 is essentially maxed out at or near 100% utilization, and Lot01 is right behind it in the mid-90% range. At this level, drivers feel the lot is functionally full—they end up circling, slowing traffic, and creating localized congestion.</a:t>
            </a:r>
          </a:p>
          <a:p>
            <a:br>
              <a:rPr lang="en-US" dirty="0"/>
            </a:br>
            <a:endParaRPr lang="en-US" dirty="0"/>
          </a:p>
          <a:p>
            <a:r>
              <a:rPr lang="en-US" dirty="0"/>
              <a:t>As we move into early afternoon, the utilization tapers slightly, but both lots remain heavily used through 16:30. This shows that the pressure on our parking system isn’t a short, isolated spike—it’s sustained for several hours each day.</a:t>
            </a:r>
          </a:p>
          <a:p>
            <a:br>
              <a:rPr lang="en-US" dirty="0"/>
            </a:br>
            <a:endParaRPr lang="en-US" dirty="0"/>
          </a:p>
          <a:p>
            <a:r>
              <a:rPr lang="en-US" dirty="0"/>
              <a:t>Overall, these trends clearly indicate structural capacity challenges, especially in Lot02, and they support the case for implementing smarter, real-time parking management tools to reduce bottlenecks and improve driver experience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we’re looking specifically at Lot01, which has the largest capacity at 863 spaces. What immediately stands out is how quickly the lot fills once the morning hours begin.</a:t>
            </a:r>
          </a:p>
          <a:p>
            <a:br>
              <a:rPr lang="en-US" dirty="0"/>
            </a:br>
            <a:endParaRPr lang="en-US" dirty="0"/>
          </a:p>
          <a:p>
            <a:r>
              <a:rPr lang="en-US" dirty="0"/>
              <a:t>At 8:00 AM, occupancy sits around 30%, which aligns with early office arrivals and morning visitors. By 10:00 AM, usage jumps to 80%. This rapid increase shows that Lot01 is heavily relied on as one of the primary parking resources in the area.</a:t>
            </a:r>
          </a:p>
          <a:p>
            <a:br>
              <a:rPr lang="en-US" dirty="0"/>
            </a:br>
            <a:endParaRPr lang="en-US" dirty="0"/>
          </a:p>
          <a:p>
            <a:r>
              <a:rPr lang="en-US" dirty="0"/>
              <a:t>Mid-day, around 12:00 PM and 2:00 PM, we see occupancy levels hovering around the 90–95% range. This is essentially functionally full, because anything above 90% causes longer search times and internal congestion as drivers circle for a remaining space.</a:t>
            </a:r>
          </a:p>
          <a:p>
            <a:br>
              <a:rPr lang="en-US" dirty="0"/>
            </a:br>
            <a:endParaRPr lang="en-US" dirty="0"/>
          </a:p>
          <a:p>
            <a:r>
              <a:rPr lang="en-US" dirty="0"/>
              <a:t>Even by 4:00 PM, the lot remains at about 80%, suggesting strong, consistent demand throughout the day—not just during the lunch rush. Overall, this pattern points to sustained pressure on Lot01 during normal business hours and reinforces the need for improved demand management and real-time visibility for drivers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Now let’s take a closer look at Lot02, which has a smaller capacity of 387 spaces but consistently shows the highest level of demand.</a:t>
            </a:r>
          </a:p>
          <a:p>
            <a:br>
              <a:rPr lang="en-US" dirty="0"/>
            </a:br>
            <a:endParaRPr lang="en-US" dirty="0"/>
          </a:p>
          <a:p>
            <a:r>
              <a:rPr lang="en-US" dirty="0"/>
              <a:t>At 8:00 AM, occupancy is already around 45%, which is noticeably higher than Lot01 at the same time. This suggests that Lot02 attracts early arrivals—likely because of location, convenience, or proximity to key facilities.</a:t>
            </a:r>
          </a:p>
          <a:p>
            <a:br>
              <a:rPr lang="en-US" dirty="0"/>
            </a:br>
            <a:endParaRPr lang="en-US" dirty="0"/>
          </a:p>
          <a:p>
            <a:r>
              <a:rPr lang="en-US" dirty="0"/>
              <a:t>By 10:00 AM, Lot02 jumps to roughly 95% occupancy. This spike happens quickly and shows that peak demand forms early in the day. By noon, the lot reaches full capacity at 100% and essentially stays maxed out through the early afternoon.</a:t>
            </a:r>
          </a:p>
          <a:p>
            <a:br>
              <a:rPr lang="en-US" dirty="0"/>
            </a:br>
            <a:endParaRPr lang="en-US" dirty="0"/>
          </a:p>
          <a:p>
            <a:r>
              <a:rPr lang="en-US" dirty="0"/>
              <a:t>At 2:00 PM, we still see occupancy holding near 98%, meaning there’s almost no turnover and very limited parking availability for new arrivals. Even at 4:00 PM, occupancy remains high at about 90%, which indicates that departures are slow and demand stays strong throughout the entire business day.</a:t>
            </a:r>
          </a:p>
          <a:p>
            <a:br>
              <a:rPr lang="en-US" dirty="0"/>
            </a:br>
            <a:endParaRPr lang="en-US" dirty="0"/>
          </a:p>
          <a:p>
            <a:r>
              <a:rPr lang="en-US" dirty="0"/>
              <a:t>The takeaway here is that Lot02 operates at or near capacity for most of the day, creating regular turn-away situations and pushing overflow demand to surrounding lots. This behavior makes Lot02 a prime candidate for real-time occupancy monitoring, dynamic pricing, and targeted demand management strategies.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I’m comparing how parking demand shifts between weekdays and weekends. What we see here is a consistent pattern across both lots: weekday utilization is noticeably higher during late morning and mid-day hours. This aligns with traditional commuter and business-hour activity within the City of Irvine, especially around job centers, retail corridors, and City Hall operations.</a:t>
            </a:r>
          </a:p>
          <a:p>
            <a:br>
              <a:rPr lang="en-US" dirty="0"/>
            </a:br>
            <a:endParaRPr lang="en-US" dirty="0"/>
          </a:p>
          <a:p>
            <a:r>
              <a:rPr lang="en-US" dirty="0"/>
              <a:t>In the late morning window, occupancy on weekdays frequently approaches or exceeds the 90% threshold, which is typically considered the operational ‘full’ point in parking management because drivers start spending more time circling for spaces. Weekends, while still busy, show slightly lower peaks, indicating more varied arrival patterns and fewer simultaneous high-demand periods.</a:t>
            </a:r>
          </a:p>
          <a:p>
            <a:br>
              <a:rPr lang="en-US" dirty="0"/>
            </a:br>
            <a:endParaRPr lang="en-US" dirty="0"/>
          </a:p>
          <a:p>
            <a:r>
              <a:rPr lang="en-US" dirty="0"/>
              <a:t>By mid-day, weekdays continue to run hotter than weekends, which reinforces the idea that the majority of parking pressure comes from work-related and scheduled daytime activity. In the afternoon, the gap narrows because weekday demand begins tapering as employees head out, whereas weekend activity smooths out more gradually.</a:t>
            </a:r>
          </a:p>
          <a:p>
            <a:br>
              <a:rPr lang="en-US" dirty="0"/>
            </a:br>
            <a:endParaRPr lang="en-US" dirty="0"/>
          </a:p>
          <a:p>
            <a:r>
              <a:rPr lang="en-US" dirty="0"/>
              <a:t>Overall, this comparison helps us understand that while weekends do contribute to congestion—especially around entertainment, dining, and shopping zones—the highest stress on the parking system is happening during weekday business hours. This is a key indicator that any smart-parking solution must account for intense weekday peaks and provide mitigation strategies specifically for the mid-day congestion cycle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we’re looking at the detailed scatter plots for Lot01 and Lot02 during the week of November 20th through November 26th. These visualizations help us see not just averages, but the </a:t>
            </a:r>
            <a:r>
              <a:rPr lang="en-US" i="1" dirty="0"/>
              <a:t>actual occupancy movement</a:t>
            </a:r>
            <a:r>
              <a:rPr lang="en-US" dirty="0"/>
              <a:t> throughout each day.</a:t>
            </a:r>
          </a:p>
          <a:p>
            <a:br>
              <a:rPr lang="en-US" dirty="0"/>
            </a:br>
            <a:endParaRPr lang="en-US" dirty="0"/>
          </a:p>
          <a:p>
            <a:r>
              <a:rPr lang="en-US" dirty="0"/>
              <a:t>Starting with </a:t>
            </a:r>
            <a:r>
              <a:rPr lang="en-US" b="1" dirty="0"/>
              <a:t>Lot02</a:t>
            </a:r>
            <a:r>
              <a:rPr lang="en-US" dirty="0"/>
              <a:t> on the left:</a:t>
            </a:r>
          </a:p>
          <a:p>
            <a:r>
              <a:rPr lang="en-US" dirty="0"/>
              <a:t>We can see that this lot consistently reaches full capacity—100%—between roughly 10:00 AM and 2:30 PM. Those upper red markers show long stretches where no spaces were available, which indicates a high probability of driver turn-aways during these hours. We also see a clear early-morning moderate zone around 40%, showing that demand ramps up sharply mid-morning.</a:t>
            </a:r>
          </a:p>
          <a:p>
            <a:br>
              <a:rPr lang="en-US" dirty="0"/>
            </a:br>
            <a:endParaRPr lang="en-US" dirty="0"/>
          </a:p>
          <a:p>
            <a:r>
              <a:rPr lang="en-US" dirty="0"/>
              <a:t>Looking at </a:t>
            </a:r>
            <a:r>
              <a:rPr lang="en-US" b="1" dirty="0"/>
              <a:t>Lot01</a:t>
            </a:r>
            <a:r>
              <a:rPr lang="en-US" dirty="0"/>
              <a:t> on the right, we see a similar but slightly less intense pattern. Lot01 peaks in the 95–100% range between 10:30 AM and 2:30 PM, shown by the cluster of dark blue points near the top of the chart. This lot rarely hits a clean 100%, but it is extremely close for several hours, which still creates congestion and slower circulation for drivers.</a:t>
            </a:r>
          </a:p>
          <a:p>
            <a:br>
              <a:rPr lang="en-US" dirty="0"/>
            </a:br>
            <a:endParaRPr lang="en-US" dirty="0"/>
          </a:p>
          <a:p>
            <a:r>
              <a:rPr lang="en-US" dirty="0"/>
              <a:t>Both scatter plots also show a consistent early-morning low point followed by a steep rise and then a gradual decline in the afternoon. The important takeaway is that </a:t>
            </a:r>
            <a:r>
              <a:rPr lang="en-US" i="1" dirty="0"/>
              <a:t>both lots are experiencing synchronized peak demand</a:t>
            </a:r>
            <a:r>
              <a:rPr lang="en-US" dirty="0"/>
              <a:t>, which creates system-wide strain rather than isolated congestion. These patterns strongly reinforce the need for smarter load distribution, demand management, and real-time availability tools.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this slide, I’m summarizing the key findings from the full parking utilization analysis.</a:t>
            </a:r>
          </a:p>
          <a:p>
            <a:br>
              <a:rPr lang="en-US" dirty="0"/>
            </a:br>
            <a:endParaRPr lang="en-US" dirty="0"/>
          </a:p>
          <a:p>
            <a:r>
              <a:rPr lang="en-US" dirty="0"/>
              <a:t>Across both parking lots — Lot01 and Lot02 — we consistently observed the highest congestion between </a:t>
            </a:r>
            <a:r>
              <a:rPr lang="en-US" b="1" dirty="0"/>
              <a:t>10:00 AM and 2:30 PM</a:t>
            </a:r>
            <a:r>
              <a:rPr lang="en-US" dirty="0"/>
              <a:t>. This is the window where demand exceeds the system’s flexibility, and both lots operate near or at capacity.</a:t>
            </a:r>
          </a:p>
          <a:p>
            <a:br>
              <a:rPr lang="en-US" dirty="0"/>
            </a:br>
            <a:endParaRPr lang="en-US" dirty="0"/>
          </a:p>
          <a:p>
            <a:r>
              <a:rPr lang="en-US" dirty="0"/>
              <a:t>Lot02 in particular stands out as the most constrained facility. It reaches </a:t>
            </a:r>
            <a:r>
              <a:rPr lang="en-US" b="1" dirty="0"/>
              <a:t>100% occupancy</a:t>
            </a:r>
            <a:r>
              <a:rPr lang="en-US" dirty="0"/>
              <a:t> on a regular basis, often staying full for long stretches with almost no turnover. That level of saturation indicates not just high demand, but a lack of buffer capacity to absorb peak-hour surges.</a:t>
            </a:r>
          </a:p>
          <a:p>
            <a:br>
              <a:rPr lang="en-US" dirty="0"/>
            </a:br>
            <a:endParaRPr lang="en-US" dirty="0"/>
          </a:p>
          <a:p>
            <a:r>
              <a:rPr lang="en-US" dirty="0"/>
              <a:t>Lot01, despite being the larger lot, also operates above </a:t>
            </a:r>
            <a:r>
              <a:rPr lang="en-US" b="1" dirty="0"/>
              <a:t>90% occupancy</a:t>
            </a:r>
            <a:r>
              <a:rPr lang="en-US" dirty="0"/>
              <a:t> for long periods. From a transportation-planning perspective, anything above 85–90% creates the same driver experience as ‘full’—longer search times, congestion inside the lot, and increased circulation around the area.</a:t>
            </a:r>
          </a:p>
          <a:p>
            <a:br>
              <a:rPr lang="en-US" dirty="0"/>
            </a:br>
            <a:endParaRPr lang="en-US" dirty="0"/>
          </a:p>
          <a:p>
            <a:r>
              <a:rPr lang="en-US" dirty="0"/>
              <a:t>Because both lots show structural under-supply during the middle of the day, our strategic priorities focus on three areas:</a:t>
            </a:r>
          </a:p>
          <a:p>
            <a:r>
              <a:rPr lang="en-US" b="1" dirty="0"/>
              <a:t>Demand management</a:t>
            </a:r>
            <a:r>
              <a:rPr lang="en-US" dirty="0"/>
              <a:t> — tools like dynamic pricing and real-time information.</a:t>
            </a:r>
          </a:p>
          <a:p>
            <a:r>
              <a:rPr lang="en-US" b="1" dirty="0"/>
              <a:t>Remote parking options</a:t>
            </a:r>
            <a:r>
              <a:rPr lang="en-US" dirty="0"/>
              <a:t> — supported by shuttle service to relieve central congestion.</a:t>
            </a:r>
          </a:p>
          <a:p>
            <a:r>
              <a:rPr lang="en-US" b="1" dirty="0"/>
              <a:t>Long-term expansion planning</a:t>
            </a:r>
            <a:r>
              <a:rPr lang="en-US" dirty="0"/>
              <a:t> — including lot expansion and upgrades tied to expected city growth.</a:t>
            </a:r>
          </a:p>
          <a:p>
            <a:br>
              <a:rPr lang="en-US" dirty="0"/>
            </a:br>
            <a:endParaRPr lang="en-US" dirty="0"/>
          </a:p>
          <a:p>
            <a:r>
              <a:rPr lang="en-US" dirty="0"/>
              <a:t>These insights help inform the recommended path forward for Irvine as we anticipate continued population and traffic growth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 sources to validate analysis and recommendations.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rking lot lanes with skid marks on the road">
            <a:extLst>
              <a:ext uri="{FF2B5EF4-FFF2-40B4-BE49-F238E27FC236}">
                <a16:creationId xmlns:a16="http://schemas.microsoft.com/office/drawing/2014/main" id="{A11731A6-F10A-8D8A-23B5-D7274AD0CAEB}"/>
              </a:ext>
            </a:extLst>
          </p:cNvPr>
          <p:cNvPicPr>
            <a:picLocks noChangeAspect="1"/>
          </p:cNvPicPr>
          <p:nvPr/>
        </p:nvPicPr>
        <p:blipFill>
          <a:blip r:embed="rId3"/>
          <a:srcRect l="13142" r="16270" b="-1"/>
          <a:stretch>
            <a:fillRect/>
          </a:stretch>
        </p:blipFill>
        <p:spPr>
          <a:xfrm>
            <a:off x="20" y="10"/>
            <a:ext cx="7252212" cy="6857990"/>
          </a:xfrm>
          <a:prstGeom prst="rect">
            <a:avLst/>
          </a:prstGeom>
        </p:spPr>
      </p:pic>
      <p:sp>
        <p:nvSpPr>
          <p:cNvPr id="19" name="Rectangle 18">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5951551" y="743447"/>
            <a:ext cx="2584324" cy="3692028"/>
          </a:xfrm>
          <a:noFill/>
        </p:spPr>
        <p:txBody>
          <a:bodyPr>
            <a:normAutofit/>
          </a:bodyPr>
          <a:lstStyle/>
          <a:p>
            <a:pPr algn="l"/>
            <a:r>
              <a:rPr lang="en-US" sz="3800" b="1">
                <a:latin typeface="Segoe UI"/>
              </a:rPr>
              <a:t>Parking Utilization Analysis</a:t>
            </a:r>
          </a:p>
        </p:txBody>
      </p:sp>
      <p:sp>
        <p:nvSpPr>
          <p:cNvPr id="3" name="Subtitle 2"/>
          <p:cNvSpPr>
            <a:spLocks noGrp="1"/>
          </p:cNvSpPr>
          <p:nvPr>
            <p:ph type="subTitle" idx="1"/>
          </p:nvPr>
        </p:nvSpPr>
        <p:spPr>
          <a:xfrm>
            <a:off x="5951552" y="4629234"/>
            <a:ext cx="2584324" cy="1485319"/>
          </a:xfrm>
          <a:noFill/>
        </p:spPr>
        <p:txBody>
          <a:bodyPr>
            <a:normAutofit/>
          </a:bodyPr>
          <a:lstStyle/>
          <a:p>
            <a:pPr algn="l">
              <a:lnSpc>
                <a:spcPct val="90000"/>
              </a:lnSpc>
            </a:pPr>
            <a:r>
              <a:rPr lang="en-US" sz="1800" dirty="0"/>
              <a:t>City of Irvine – Summative Assessment</a:t>
            </a:r>
          </a:p>
          <a:p>
            <a:pPr algn="l">
              <a:lnSpc>
                <a:spcPct val="90000"/>
              </a:lnSpc>
            </a:pPr>
            <a:r>
              <a:rPr lang="en-US" sz="1800" dirty="0"/>
              <a:t>Presented by: Allen Day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b="1">
                <a:solidFill>
                  <a:srgbClr val="FFFFFF"/>
                </a:solidFill>
                <a:latin typeface="Segoe UI"/>
              </a:rPr>
              <a:t>Implementation Roadmap</a:t>
            </a:r>
          </a:p>
        </p:txBody>
      </p:sp>
      <p:graphicFrame>
        <p:nvGraphicFramePr>
          <p:cNvPr id="5" name="Content Placeholder 2">
            <a:extLst>
              <a:ext uri="{FF2B5EF4-FFF2-40B4-BE49-F238E27FC236}">
                <a16:creationId xmlns:a16="http://schemas.microsoft.com/office/drawing/2014/main" id="{F48902D0-329B-2321-44BF-2F9BBF15103D}"/>
              </a:ext>
            </a:extLst>
          </p:cNvPr>
          <p:cNvGraphicFramePr>
            <a:graphicFrameLocks noGrp="1"/>
          </p:cNvGraphicFramePr>
          <p:nvPr>
            <p:ph idx="1"/>
            <p:extLst>
              <p:ext uri="{D42A27DB-BD31-4B8C-83A1-F6EECF244321}">
                <p14:modId xmlns:p14="http://schemas.microsoft.com/office/powerpoint/2010/main" val="249479415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000" b="1">
                <a:solidFill>
                  <a:srgbClr val="FFFFFF"/>
                </a:solidFill>
                <a:latin typeface="Segoe UI"/>
              </a:rPr>
              <a:t>Challenges &amp; Constraints</a:t>
            </a:r>
          </a:p>
        </p:txBody>
      </p:sp>
      <p:graphicFrame>
        <p:nvGraphicFramePr>
          <p:cNvPr id="5" name="Content Placeholder 2">
            <a:extLst>
              <a:ext uri="{FF2B5EF4-FFF2-40B4-BE49-F238E27FC236}">
                <a16:creationId xmlns:a16="http://schemas.microsoft.com/office/drawing/2014/main" id="{3B649ABB-E9C0-D675-1BAC-AC9BEFA76A74}"/>
              </a:ext>
            </a:extLst>
          </p:cNvPr>
          <p:cNvGraphicFramePr>
            <a:graphicFrameLocks noGrp="1"/>
          </p:cNvGraphicFramePr>
          <p:nvPr>
            <p:ph idx="1"/>
            <p:extLst>
              <p:ext uri="{D42A27DB-BD31-4B8C-83A1-F6EECF244321}">
                <p14:modId xmlns:p14="http://schemas.microsoft.com/office/powerpoint/2010/main" val="357696352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lnSpc>
                <a:spcPct val="90000"/>
              </a:lnSpc>
            </a:pPr>
            <a:r>
              <a:rPr lang="en-US" sz="2700" b="1">
                <a:solidFill>
                  <a:srgbClr val="FFFFFF"/>
                </a:solidFill>
                <a:latin typeface="Segoe UI"/>
              </a:rPr>
              <a:t>Future Vision for Parking Management</a:t>
            </a:r>
          </a:p>
        </p:txBody>
      </p:sp>
      <p:graphicFrame>
        <p:nvGraphicFramePr>
          <p:cNvPr id="5" name="Content Placeholder 2">
            <a:extLst>
              <a:ext uri="{FF2B5EF4-FFF2-40B4-BE49-F238E27FC236}">
                <a16:creationId xmlns:a16="http://schemas.microsoft.com/office/drawing/2014/main" id="{77A3AD56-CA83-20F5-9915-7363C67D518D}"/>
              </a:ext>
            </a:extLst>
          </p:cNvPr>
          <p:cNvGraphicFramePr>
            <a:graphicFrameLocks noGrp="1"/>
          </p:cNvGraphicFramePr>
          <p:nvPr>
            <p:ph idx="1"/>
            <p:extLst>
              <p:ext uri="{D42A27DB-BD31-4B8C-83A1-F6EECF244321}">
                <p14:modId xmlns:p14="http://schemas.microsoft.com/office/powerpoint/2010/main" val="14975988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b="1">
                <a:solidFill>
                  <a:srgbClr val="FFFFFF"/>
                </a:solidFill>
                <a:latin typeface="Segoe UI"/>
              </a:rPr>
              <a:t>Dataset Overview</a:t>
            </a:r>
          </a:p>
        </p:txBody>
      </p:sp>
      <p:graphicFrame>
        <p:nvGraphicFramePr>
          <p:cNvPr id="5" name="Content Placeholder 2">
            <a:extLst>
              <a:ext uri="{FF2B5EF4-FFF2-40B4-BE49-F238E27FC236}">
                <a16:creationId xmlns:a16="http://schemas.microsoft.com/office/drawing/2014/main" id="{8DC5060D-98F3-A79C-0559-F48FD062E270}"/>
              </a:ext>
            </a:extLst>
          </p:cNvPr>
          <p:cNvGraphicFramePr>
            <a:graphicFrameLocks noGrp="1"/>
          </p:cNvGraphicFramePr>
          <p:nvPr>
            <p:ph idx="1"/>
            <p:extLst>
              <p:ext uri="{D42A27DB-BD31-4B8C-83A1-F6EECF244321}">
                <p14:modId xmlns:p14="http://schemas.microsoft.com/office/powerpoint/2010/main" val="4258432963"/>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r>
              <a:rPr lang="en-US" sz="4500"/>
              <a:t>Overall Utilization Trends</a:t>
            </a: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1433969828"/>
              </p:ext>
            </p:extLst>
          </p:nvPr>
        </p:nvGraphicFramePr>
        <p:xfrm>
          <a:off x="628650" y="1825625"/>
          <a:ext cx="7886700" cy="435133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Lot01 Utilization</a:t>
            </a: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3658200930"/>
              </p:ext>
            </p:extLst>
          </p:nvPr>
        </p:nvGraphicFramePr>
        <p:xfrm>
          <a:off x="483042" y="2615979"/>
          <a:ext cx="8195871" cy="368940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Lot02 Utilization</a:t>
            </a: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2821463270"/>
              </p:ext>
            </p:extLst>
          </p:nvPr>
        </p:nvGraphicFramePr>
        <p:xfrm>
          <a:off x="483042" y="2112579"/>
          <a:ext cx="8195871" cy="419280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Weekday vs Weekend Utilization</a:t>
            </a: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2161241993"/>
              </p:ext>
            </p:extLst>
          </p:nvPr>
        </p:nvGraphicFramePr>
        <p:xfrm>
          <a:off x="483042" y="2615979"/>
          <a:ext cx="8195871" cy="368940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13"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9272"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1028698" y="319314"/>
            <a:ext cx="7108033" cy="1030515"/>
          </a:xfrm>
        </p:spPr>
        <p:txBody>
          <a:bodyPr anchor="ctr">
            <a:normAutofit/>
          </a:bodyPr>
          <a:lstStyle/>
          <a:p>
            <a:r>
              <a:rPr lang="en-US" sz="3500">
                <a:solidFill>
                  <a:srgbClr val="FFFFFF"/>
                </a:solidFill>
              </a:rPr>
              <a:t>Scatter Plots: Lot01 vs Lot02</a:t>
            </a:r>
          </a:p>
        </p:txBody>
      </p:sp>
      <p:pic>
        <p:nvPicPr>
          <p:cNvPr id="5" name="Picture 4" descr="lot02_annotated_scatter.png"/>
          <p:cNvPicPr>
            <a:picLocks noChangeAspect="1"/>
          </p:cNvPicPr>
          <p:nvPr/>
        </p:nvPicPr>
        <p:blipFill>
          <a:blip r:embed="rId3"/>
          <a:stretch>
            <a:fillRect/>
          </a:stretch>
        </p:blipFill>
        <p:spPr>
          <a:xfrm>
            <a:off x="1028698" y="2135220"/>
            <a:ext cx="3423938" cy="2448115"/>
          </a:xfrm>
          <a:prstGeom prst="rect">
            <a:avLst/>
          </a:prstGeom>
        </p:spPr>
      </p:pic>
      <p:pic>
        <p:nvPicPr>
          <p:cNvPr id="4" name="Picture 3" descr="lot01_annotated_scatter.png"/>
          <p:cNvPicPr>
            <a:picLocks noChangeAspect="1"/>
          </p:cNvPicPr>
          <p:nvPr/>
        </p:nvPicPr>
        <p:blipFill>
          <a:blip r:embed="rId4"/>
          <a:stretch>
            <a:fillRect/>
          </a:stretch>
        </p:blipFill>
        <p:spPr>
          <a:xfrm>
            <a:off x="4700753" y="2149343"/>
            <a:ext cx="3450265" cy="24669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b="1">
                <a:solidFill>
                  <a:srgbClr val="FFFFFF"/>
                </a:solidFill>
                <a:latin typeface="Segoe UI"/>
              </a:rPr>
              <a:t>Executive Summary</a:t>
            </a:r>
          </a:p>
        </p:txBody>
      </p:sp>
      <p:graphicFrame>
        <p:nvGraphicFramePr>
          <p:cNvPr id="5" name="Content Placeholder 2">
            <a:extLst>
              <a:ext uri="{FF2B5EF4-FFF2-40B4-BE49-F238E27FC236}">
                <a16:creationId xmlns:a16="http://schemas.microsoft.com/office/drawing/2014/main" id="{FE51514B-CD8E-3011-6259-62B3B2A36EC9}"/>
              </a:ext>
            </a:extLst>
          </p:cNvPr>
          <p:cNvGraphicFramePr>
            <a:graphicFrameLocks noGrp="1"/>
          </p:cNvGraphicFramePr>
          <p:nvPr>
            <p:ph idx="1"/>
            <p:extLst>
              <p:ext uri="{D42A27DB-BD31-4B8C-83A1-F6EECF244321}">
                <p14:modId xmlns:p14="http://schemas.microsoft.com/office/powerpoint/2010/main" val="75919430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b="1">
                <a:latin typeface="Segoe UI"/>
              </a:rPr>
              <a:t>References</a:t>
            </a:r>
          </a:p>
        </p:txBody>
      </p:sp>
      <p:sp>
        <p:nvSpPr>
          <p:cNvPr id="3" name="Content Placeholder 2"/>
          <p:cNvSpPr>
            <a:spLocks noGrp="1"/>
          </p:cNvSpPr>
          <p:nvPr>
            <p:ph idx="1"/>
          </p:nvPr>
        </p:nvSpPr>
        <p:spPr>
          <a:xfrm>
            <a:off x="571351" y="2743200"/>
            <a:ext cx="3485179" cy="3613149"/>
          </a:xfrm>
        </p:spPr>
        <p:txBody>
          <a:bodyPr anchor="ctr">
            <a:normAutofit/>
          </a:bodyPr>
          <a:lstStyle/>
          <a:p>
            <a:pPr>
              <a:lnSpc>
                <a:spcPct val="90000"/>
              </a:lnSpc>
            </a:pPr>
            <a:endParaRPr lang="en-US" sz="1700"/>
          </a:p>
          <a:p>
            <a:pPr>
              <a:lnSpc>
                <a:spcPct val="90000"/>
              </a:lnSpc>
              <a:defRPr sz="2000">
                <a:solidFill>
                  <a:srgbClr val="282828"/>
                </a:solidFill>
                <a:latin typeface="Segoe UI"/>
              </a:defRPr>
            </a:pPr>
            <a:r>
              <a:rPr lang="en-US" sz="1700"/>
              <a:t>City of Irvine Parking Data (2022). Parking Utilization Records.</a:t>
            </a:r>
          </a:p>
          <a:p>
            <a:pPr>
              <a:lnSpc>
                <a:spcPct val="90000"/>
              </a:lnSpc>
              <a:defRPr sz="2000">
                <a:solidFill>
                  <a:srgbClr val="282828"/>
                </a:solidFill>
                <a:latin typeface="Segoe UI"/>
              </a:defRPr>
            </a:pPr>
            <a:r>
              <a:rPr lang="en-US" sz="1700"/>
              <a:t>Shoup, D. (2011). The High Cost of Free Parking. APA Publishing.</a:t>
            </a:r>
          </a:p>
          <a:p>
            <a:pPr>
              <a:lnSpc>
                <a:spcPct val="90000"/>
              </a:lnSpc>
              <a:defRPr sz="2000">
                <a:solidFill>
                  <a:srgbClr val="282828"/>
                </a:solidFill>
                <a:latin typeface="Segoe UI"/>
              </a:defRPr>
            </a:pPr>
            <a:r>
              <a:rPr lang="en-US" sz="1700"/>
              <a:t>Smart Cities Council (2023). Parking Management Strategies for Urban Areas.</a:t>
            </a:r>
          </a:p>
          <a:p>
            <a:pPr>
              <a:lnSpc>
                <a:spcPct val="90000"/>
              </a:lnSpc>
              <a:defRPr sz="2000">
                <a:solidFill>
                  <a:srgbClr val="282828"/>
                </a:solidFill>
                <a:latin typeface="Segoe UI"/>
              </a:defRPr>
            </a:pPr>
            <a:r>
              <a:rPr lang="en-US" sz="1700"/>
              <a:t>Federal Highway Administration (2021). Demand-Based Parking Pricing Guidelines.</a:t>
            </a:r>
          </a:p>
        </p:txBody>
      </p:sp>
      <p:pic>
        <p:nvPicPr>
          <p:cNvPr id="5" name="Picture 4" descr="Large car parking lot from above">
            <a:extLst>
              <a:ext uri="{FF2B5EF4-FFF2-40B4-BE49-F238E27FC236}">
                <a16:creationId xmlns:a16="http://schemas.microsoft.com/office/drawing/2014/main" id="{E486AF15-C148-5036-F931-7CC4B23AA315}"/>
              </a:ext>
            </a:extLst>
          </p:cNvPr>
          <p:cNvPicPr>
            <a:picLocks noChangeAspect="1"/>
          </p:cNvPicPr>
          <p:nvPr/>
        </p:nvPicPr>
        <p:blipFill>
          <a:blip r:embed="rId3"/>
          <a:srcRect l="11737" r="43881"/>
          <a:stretch>
            <a:fillRect/>
          </a:stretch>
        </p:blipFill>
        <p:spPr>
          <a:xfrm>
            <a:off x="4572000" y="1"/>
            <a:ext cx="457711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2755</Words>
  <Application>Microsoft Macintosh PowerPoint</Application>
  <PresentationFormat>On-screen Show (4:3)</PresentationFormat>
  <Paragraphs>140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Parking Utilization Analysis</vt:lpstr>
      <vt:lpstr>Implementation Roadmap</vt:lpstr>
      <vt:lpstr>Challenges &amp; Constraints</vt:lpstr>
      <vt:lpstr>Future Vision for Parking Management</vt:lpstr>
      <vt:lpstr>Dataset Overview</vt:lpstr>
      <vt:lpstr>Overall Utilization Trends</vt:lpstr>
      <vt:lpstr>Lot01 Utilization</vt:lpstr>
      <vt:lpstr>Lot02 Utilization</vt:lpstr>
      <vt:lpstr>Weekday vs Weekend Utilization</vt:lpstr>
      <vt:lpstr>Scatter Plots: Lot01 vs Lot02</vt:lpstr>
      <vt:lpstr>Executive Summary</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Allen Day</cp:lastModifiedBy>
  <cp:revision>2</cp:revision>
  <dcterms:created xsi:type="dcterms:W3CDTF">2013-01-27T09:14:16Z</dcterms:created>
  <dcterms:modified xsi:type="dcterms:W3CDTF">2025-11-21T21:17:21Z</dcterms:modified>
  <cp:category/>
</cp:coreProperties>
</file>